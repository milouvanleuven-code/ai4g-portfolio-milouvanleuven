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64" r:id="rId15"/>
    <p:sldId id="258" r:id="rId9"/>
    <p:sldId id="259" r:id="rId10"/>
    <p:sldId id="260" r:id="rId11"/>
    <p:sldId id="261" r:id="rId12"/>
    <p:sldId id="262" r:id="rId13"/>
    <p:sldId id="265" r:id="rId16"/>
    <p:sldId id="263" r:id="rId1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623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40080" y="1097280"/>
            <a:ext cx="109728" cy="4389120"/>
          </a:xfrm>
          <a:prstGeom prst="rect">
            <a:avLst/>
          </a:prstGeom>
          <a:solidFill>
            <a:srgbClr val="2C96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1234440"/>
            <a:ext cx="9875520" cy="1280160"/>
          </a:xfrm>
          <a:prstGeom prst="rect">
            <a:avLst/>
          </a:prstGeom>
          <a:noFill/>
        </p:spPr>
        <p:txBody>
          <a:bodyPr wrap="none">
            <a:spAutoFit/>
          </a:bodyPr>
          <a:lstStyle/>
          <a:p>
            <a:pPr>
              <a:defRPr sz="4800" b="1">
                <a:solidFill>
                  <a:srgbClr val="FFFFFF"/>
                </a:solidFill>
              </a:defRPr>
            </a:pPr>
            <a:r>
              <a:t>FLOW STATE</a:t>
            </a:r>
          </a:p>
        </p:txBody>
      </p:sp>
      <p:sp>
        <p:nvSpPr>
          <p:cNvPr id="5" name="TextBox 4"/>
          <p:cNvSpPr txBox="1"/>
          <p:nvPr/>
        </p:nvSpPr>
        <p:spPr>
          <a:xfrm>
            <a:off x="1024128" y="2514600"/>
            <a:ext cx="9509760" cy="1371600"/>
          </a:xfrm>
          <a:prstGeom prst="rect">
            <a:avLst/>
          </a:prstGeom>
          <a:noFill/>
        </p:spPr>
        <p:txBody>
          <a:bodyPr wrap="none">
            <a:spAutoFit/>
          </a:bodyPr>
          <a:lstStyle/>
          <a:p>
            <a:pPr>
              <a:defRPr sz="2600">
                <a:solidFill>
                  <a:srgbClr val="FFFFFF"/>
                </a:solidFill>
              </a:defRPr>
            </a:pPr>
            <a:r>
              <a:t>An AI-powered daily check-in that connects</a:t>
            </a:r>
            <a:br/>
            <a:r>
              <a:t>wellbeing, workload and planning</a:t>
            </a:r>
          </a:p>
        </p:txBody>
      </p:sp>
      <p:sp>
        <p:nvSpPr>
          <p:cNvPr id="6" name="TextBox 5"/>
          <p:cNvSpPr txBox="1"/>
          <p:nvPr/>
        </p:nvSpPr>
        <p:spPr>
          <a:xfrm>
            <a:off x="1024128" y="5074920"/>
            <a:ext cx="8229600" cy="457200"/>
          </a:xfrm>
          <a:prstGeom prst="rect">
            <a:avLst/>
          </a:prstGeom>
          <a:noFill/>
        </p:spPr>
        <p:txBody>
          <a:bodyPr wrap="none">
            <a:spAutoFit/>
          </a:bodyPr>
          <a:lstStyle/>
          <a:p>
            <a:pPr>
              <a:defRPr sz="1500">
                <a:solidFill>
                  <a:srgbClr val="BED2DC"/>
                </a:solidFill>
              </a:defRPr>
            </a:pPr>
            <a:r>
              <a:t>n8n • Google Calendar • OpenAI • Google Sheets • Gmail</a:t>
            </a:r>
          </a:p>
        </p:txBody>
      </p:sp>
      <p:sp>
        <p:nvSpPr>
          <p:cNvPr id="7" name="TextBox 6"/>
          <p:cNvSpPr txBox="1"/>
          <p:nvPr/>
        </p:nvSpPr>
        <p:spPr>
          <a:xfrm>
            <a:off x="11155680" y="6419088"/>
            <a:ext cx="457200" cy="228600"/>
          </a:xfrm>
          <a:prstGeom prst="rect">
            <a:avLst/>
          </a:prstGeom>
          <a:noFill/>
        </p:spPr>
        <p:txBody>
          <a:bodyPr wrap="none">
            <a:spAutoFit/>
          </a:bodyPr>
          <a:lstStyle/>
          <a:p>
            <a:pPr algn="r">
              <a:defRPr sz="900">
                <a:solidFill>
                  <a:srgbClr val="5B6C7D"/>
                </a:solidFill>
              </a:defRPr>
            </a:pPr>
            <a:r>
              <a:t>1</a:t>
            </a:r>
          </a:p>
        </p:txBody>
      </p:sp>
      <p:sp>
        <p:nvSpPr>
          <p:cNvPr id="8" name="TextBox 7"/>
          <p:cNvSpPr txBox="1"/>
          <p:nvPr/>
        </p:nvSpPr>
        <p:spPr>
          <a:xfrm>
            <a:off x="1024128" y="5650992"/>
            <a:ext cx="8686800" cy="365760"/>
          </a:xfrm>
          <a:prstGeom prst="rect">
            <a:avLst/>
          </a:prstGeom>
          <a:noFill/>
        </p:spPr>
        <p:txBody>
          <a:bodyPr wrap="none">
            <a:spAutoFit/>
          </a:bodyPr>
          <a:lstStyle/>
          <a:p>
            <a:pPr>
              <a:defRPr sz="1400">
                <a:solidFill>
                  <a:srgbClr val="B4EBE4"/>
                </a:solidFill>
              </a:defRPr>
            </a:pPr>
            <a:r>
              <a:t>AI for Good — Hackathon 2 | SDG 3: Good Health &amp; Well-being</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10972800" cy="685800"/>
          </a:xfrm>
          <a:prstGeom prst="rect">
            <a:avLst/>
          </a:prstGeom>
          <a:noFill/>
        </p:spPr>
        <p:txBody>
          <a:bodyPr wrap="none">
            <a:spAutoFit/>
          </a:bodyPr>
          <a:lstStyle/>
          <a:p>
            <a:pPr>
              <a:defRPr sz="3000" b="1">
                <a:solidFill>
                  <a:srgbClr val="162337"/>
                </a:solidFill>
              </a:defRPr>
            </a:pPr>
            <a:r>
              <a:t>The problem</a:t>
            </a:r>
          </a:p>
        </p:txBody>
      </p:sp>
      <p:sp>
        <p:nvSpPr>
          <p:cNvPr id="4" name="TextBox 3"/>
          <p:cNvSpPr txBox="1"/>
          <p:nvPr/>
        </p:nvSpPr>
        <p:spPr>
          <a:xfrm>
            <a:off x="658368" y="1078992"/>
            <a:ext cx="10698480" cy="502920"/>
          </a:xfrm>
          <a:prstGeom prst="rect">
            <a:avLst/>
          </a:prstGeom>
          <a:noFill/>
        </p:spPr>
        <p:txBody>
          <a:bodyPr wrap="none">
            <a:spAutoFit/>
          </a:bodyPr>
          <a:lstStyle/>
          <a:p>
            <a:pPr>
              <a:defRPr sz="1500">
                <a:solidFill>
                  <a:srgbClr val="5B6C7D"/>
                </a:solidFill>
              </a:defRPr>
            </a:pPr>
            <a:r>
              <a:t>Busy days are planned around tasks — not around how someone is actually doing.</a:t>
            </a:r>
          </a:p>
        </p:txBody>
      </p:sp>
      <p:sp>
        <p:nvSpPr>
          <p:cNvPr id="5" name="Rounded Rectangle 4"/>
          <p:cNvSpPr/>
          <p:nvPr/>
        </p:nvSpPr>
        <p:spPr>
          <a:xfrm>
            <a:off x="731520" y="1645920"/>
            <a:ext cx="3429000" cy="3291840"/>
          </a:xfrm>
          <a:prstGeom prst="roundRect">
            <a:avLst/>
          </a:prstGeom>
          <a:solidFill>
            <a:srgbClr val="FFFFFF"/>
          </a:solidFill>
          <a:ln>
            <a:solidFill>
              <a:srgbClr val="DCE4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31520" y="1645920"/>
            <a:ext cx="73152" cy="3291840"/>
          </a:xfrm>
          <a:prstGeom prst="rect">
            <a:avLst/>
          </a:prstGeom>
          <a:solidFill>
            <a:srgbClr val="2C96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1810512"/>
            <a:ext cx="3017520" cy="365760"/>
          </a:xfrm>
          <a:prstGeom prst="rect">
            <a:avLst/>
          </a:prstGeom>
          <a:noFill/>
        </p:spPr>
        <p:txBody>
          <a:bodyPr wrap="none">
            <a:spAutoFit/>
          </a:bodyPr>
          <a:lstStyle/>
          <a:p>
            <a:pPr>
              <a:defRPr sz="1800" b="1">
                <a:solidFill>
                  <a:srgbClr val="162337"/>
                </a:solidFill>
              </a:defRPr>
            </a:pPr>
            <a:r>
              <a:t>1. Fragmented information</a:t>
            </a:r>
          </a:p>
        </p:txBody>
      </p:sp>
      <p:sp>
        <p:nvSpPr>
          <p:cNvPr id="8" name="TextBox 7"/>
          <p:cNvSpPr txBox="1"/>
          <p:nvPr/>
        </p:nvSpPr>
        <p:spPr>
          <a:xfrm>
            <a:off x="960120" y="2304288"/>
            <a:ext cx="3017520" cy="2514600"/>
          </a:xfrm>
          <a:prstGeom prst="rect">
            <a:avLst/>
          </a:prstGeom>
          <a:noFill/>
        </p:spPr>
        <p:txBody>
          <a:bodyPr wrap="square">
            <a:spAutoFit/>
          </a:bodyPr>
          <a:lstStyle/>
          <a:p>
            <a:pPr>
              <a:defRPr sz="1400">
                <a:solidFill>
                  <a:srgbClr val="5B6C7D"/>
                </a:solidFill>
              </a:defRPr>
            </a:pPr>
            <a:r>
              <a:t>How you feel, what is in your calendar and your previous days live in different places.</a:t>
            </a:r>
          </a:p>
        </p:txBody>
      </p:sp>
      <p:sp>
        <p:nvSpPr>
          <p:cNvPr id="9" name="Rounded Rectangle 8"/>
          <p:cNvSpPr/>
          <p:nvPr/>
        </p:nvSpPr>
        <p:spPr>
          <a:xfrm>
            <a:off x="4389120" y="1645920"/>
            <a:ext cx="3429000" cy="3291840"/>
          </a:xfrm>
          <a:prstGeom prst="roundRect">
            <a:avLst/>
          </a:prstGeom>
          <a:solidFill>
            <a:srgbClr val="FFFFFF"/>
          </a:solidFill>
          <a:ln>
            <a:solidFill>
              <a:srgbClr val="DCE4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389120" y="1645920"/>
            <a:ext cx="73152" cy="3291840"/>
          </a:xfrm>
          <a:prstGeom prst="rect">
            <a:avLst/>
          </a:prstGeom>
          <a:solidFill>
            <a:srgbClr val="2C96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617720" y="1810512"/>
            <a:ext cx="3017520" cy="365760"/>
          </a:xfrm>
          <a:prstGeom prst="rect">
            <a:avLst/>
          </a:prstGeom>
          <a:noFill/>
        </p:spPr>
        <p:txBody>
          <a:bodyPr wrap="none">
            <a:spAutoFit/>
          </a:bodyPr>
          <a:lstStyle/>
          <a:p>
            <a:pPr>
              <a:defRPr sz="1800" b="1">
                <a:solidFill>
                  <a:srgbClr val="162337"/>
                </a:solidFill>
              </a:defRPr>
            </a:pPr>
            <a:r>
              <a:t>2. No early signal</a:t>
            </a:r>
          </a:p>
        </p:txBody>
      </p:sp>
      <p:sp>
        <p:nvSpPr>
          <p:cNvPr id="12" name="TextBox 11"/>
          <p:cNvSpPr txBox="1"/>
          <p:nvPr/>
        </p:nvSpPr>
        <p:spPr>
          <a:xfrm>
            <a:off x="4617720" y="2304288"/>
            <a:ext cx="3017520" cy="2514600"/>
          </a:xfrm>
          <a:prstGeom prst="rect">
            <a:avLst/>
          </a:prstGeom>
          <a:noFill/>
        </p:spPr>
        <p:txBody>
          <a:bodyPr wrap="square">
            <a:spAutoFit/>
          </a:bodyPr>
          <a:lstStyle/>
          <a:p>
            <a:pPr>
              <a:defRPr sz="1400">
                <a:solidFill>
                  <a:srgbClr val="5B6C7D"/>
                </a:solidFill>
              </a:defRPr>
            </a:pPr>
            <a:r>
              <a:t>People often notice overload only when they are already exhausted or behind.</a:t>
            </a:r>
          </a:p>
        </p:txBody>
      </p:sp>
      <p:sp>
        <p:nvSpPr>
          <p:cNvPr id="13" name="Rounded Rectangle 12"/>
          <p:cNvSpPr/>
          <p:nvPr/>
        </p:nvSpPr>
        <p:spPr>
          <a:xfrm>
            <a:off x="8046720" y="1645920"/>
            <a:ext cx="3429000" cy="3291840"/>
          </a:xfrm>
          <a:prstGeom prst="roundRect">
            <a:avLst/>
          </a:prstGeom>
          <a:solidFill>
            <a:srgbClr val="FFFFFF"/>
          </a:solidFill>
          <a:ln>
            <a:solidFill>
              <a:srgbClr val="DCE4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046720" y="1645920"/>
            <a:ext cx="73152" cy="3291840"/>
          </a:xfrm>
          <a:prstGeom prst="rect">
            <a:avLst/>
          </a:prstGeom>
          <a:solidFill>
            <a:srgbClr val="2C96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75320" y="1810512"/>
            <a:ext cx="3017520" cy="365760"/>
          </a:xfrm>
          <a:prstGeom prst="rect">
            <a:avLst/>
          </a:prstGeom>
          <a:noFill/>
        </p:spPr>
        <p:txBody>
          <a:bodyPr wrap="none">
            <a:spAutoFit/>
          </a:bodyPr>
          <a:lstStyle/>
          <a:p>
            <a:pPr>
              <a:defRPr sz="1800" b="1">
                <a:solidFill>
                  <a:srgbClr val="162337"/>
                </a:solidFill>
              </a:defRPr>
            </a:pPr>
            <a:r>
              <a:t>3. Generic advice</a:t>
            </a:r>
          </a:p>
        </p:txBody>
      </p:sp>
      <p:sp>
        <p:nvSpPr>
          <p:cNvPr id="16" name="TextBox 15"/>
          <p:cNvSpPr txBox="1"/>
          <p:nvPr/>
        </p:nvSpPr>
        <p:spPr>
          <a:xfrm>
            <a:off x="8275320" y="2304288"/>
            <a:ext cx="3017520" cy="2514600"/>
          </a:xfrm>
          <a:prstGeom prst="rect">
            <a:avLst/>
          </a:prstGeom>
          <a:noFill/>
        </p:spPr>
        <p:txBody>
          <a:bodyPr wrap="square">
            <a:spAutoFit/>
          </a:bodyPr>
          <a:lstStyle/>
          <a:p>
            <a:pPr>
              <a:defRPr sz="1400">
                <a:solidFill>
                  <a:srgbClr val="5B6C7D"/>
                </a:solidFill>
              </a:defRPr>
            </a:pPr>
            <a:r>
              <a:t>A normal reminder does not know whether today is empty, packed, energetic or difficult.</a:t>
            </a:r>
          </a:p>
        </p:txBody>
      </p:sp>
      <p:sp>
        <p:nvSpPr>
          <p:cNvPr id="17" name="TextBox 16"/>
          <p:cNvSpPr txBox="1"/>
          <p:nvPr/>
        </p:nvSpPr>
        <p:spPr>
          <a:xfrm>
            <a:off x="1188720" y="5349240"/>
            <a:ext cx="9784080" cy="685800"/>
          </a:xfrm>
          <a:prstGeom prst="rect">
            <a:avLst/>
          </a:prstGeom>
          <a:noFill/>
        </p:spPr>
        <p:txBody>
          <a:bodyPr wrap="none">
            <a:spAutoFit/>
          </a:bodyPr>
          <a:lstStyle/>
          <a:p>
            <a:pPr algn="ctr">
              <a:defRPr sz="2200" b="1">
                <a:solidFill>
                  <a:srgbClr val="2C9691"/>
                </a:solidFill>
              </a:defRPr>
            </a:pPr>
            <a:r>
              <a:t>Goal: turn a 1-minute check-in into useful, personalized guidance for the day.</a:t>
            </a:r>
          </a:p>
        </p:txBody>
      </p:sp>
      <p:sp>
        <p:nvSpPr>
          <p:cNvPr id="18" name="TextBox 17"/>
          <p:cNvSpPr txBox="1"/>
          <p:nvPr/>
        </p:nvSpPr>
        <p:spPr>
          <a:xfrm>
            <a:off x="11155680" y="6419088"/>
            <a:ext cx="457200" cy="228600"/>
          </a:xfrm>
          <a:prstGeom prst="rect">
            <a:avLst/>
          </a:prstGeom>
          <a:noFill/>
        </p:spPr>
        <p:txBody>
          <a:bodyPr wrap="none">
            <a:spAutoFit/>
          </a:bodyPr>
          <a:lstStyle/>
          <a:p>
            <a:pPr algn="r">
              <a:defRPr sz="900">
                <a:solidFill>
                  <a:srgbClr val="5B6C7D"/>
                </a:solidFill>
              </a:defRPr>
            </a:pPr>
            <a: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10972800" cy="685800"/>
          </a:xfrm>
          <a:prstGeom prst="rect">
            <a:avLst/>
          </a:prstGeom>
          <a:noFill/>
        </p:spPr>
        <p:txBody>
          <a:bodyPr wrap="none">
            <a:spAutoFit/>
          </a:bodyPr>
          <a:lstStyle/>
          <a:p>
            <a:pPr>
              <a:defRPr sz="3000" b="1">
                <a:solidFill>
                  <a:srgbClr val="162337"/>
                </a:solidFill>
              </a:defRPr>
            </a:pPr>
            <a:r>
              <a:t>The idea: Flow State</a:t>
            </a:r>
          </a:p>
        </p:txBody>
      </p:sp>
      <p:sp>
        <p:nvSpPr>
          <p:cNvPr id="4" name="TextBox 3"/>
          <p:cNvSpPr txBox="1"/>
          <p:nvPr/>
        </p:nvSpPr>
        <p:spPr>
          <a:xfrm>
            <a:off x="658368" y="1078992"/>
            <a:ext cx="10698480" cy="502920"/>
          </a:xfrm>
          <a:prstGeom prst="rect">
            <a:avLst/>
          </a:prstGeom>
          <a:noFill/>
        </p:spPr>
        <p:txBody>
          <a:bodyPr wrap="none">
            <a:spAutoFit/>
          </a:bodyPr>
          <a:lstStyle/>
          <a:p>
            <a:pPr>
              <a:defRPr sz="1500">
                <a:solidFill>
                  <a:srgbClr val="5B6C7D"/>
                </a:solidFill>
              </a:defRPr>
            </a:pPr>
            <a:r>
              <a:t>One simple daily flow, with as little manual work as possible.</a:t>
            </a:r>
          </a:p>
        </p:txBody>
      </p:sp>
      <p:sp>
        <p:nvSpPr>
          <p:cNvPr id="5" name="Rounded Rectangle 4"/>
          <p:cNvSpPr/>
          <p:nvPr/>
        </p:nvSpPr>
        <p:spPr>
          <a:xfrm>
            <a:off x="731520" y="1828800"/>
            <a:ext cx="2423160" cy="3017520"/>
          </a:xfrm>
          <a:prstGeom prst="roundRect">
            <a:avLst/>
          </a:prstGeom>
          <a:solidFill>
            <a:srgbClr val="FFFFFF"/>
          </a:solidFill>
          <a:ln>
            <a:solidFill>
              <a:srgbClr val="DCE4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1490472" y="2057400"/>
            <a:ext cx="914400" cy="914400"/>
          </a:xfrm>
          <a:prstGeom prst="ellipse">
            <a:avLst/>
          </a:prstGeom>
          <a:solidFill>
            <a:srgbClr val="2C96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490472" y="2240280"/>
            <a:ext cx="914400" cy="365760"/>
          </a:xfrm>
          <a:prstGeom prst="rect">
            <a:avLst/>
          </a:prstGeom>
          <a:noFill/>
        </p:spPr>
        <p:txBody>
          <a:bodyPr wrap="none">
            <a:spAutoFit/>
          </a:bodyPr>
          <a:lstStyle/>
          <a:p>
            <a:pPr algn="ctr">
              <a:defRPr sz="2200" b="1">
                <a:solidFill>
                  <a:srgbClr val="FFFFFF"/>
                </a:solidFill>
              </a:defRPr>
            </a:pPr>
            <a:r>
              <a:t>1</a:t>
            </a:r>
          </a:p>
        </p:txBody>
      </p:sp>
      <p:sp>
        <p:nvSpPr>
          <p:cNvPr id="8" name="TextBox 7"/>
          <p:cNvSpPr txBox="1"/>
          <p:nvPr/>
        </p:nvSpPr>
        <p:spPr>
          <a:xfrm>
            <a:off x="914400" y="3200400"/>
            <a:ext cx="2057400" cy="411480"/>
          </a:xfrm>
          <a:prstGeom prst="rect">
            <a:avLst/>
          </a:prstGeom>
          <a:noFill/>
        </p:spPr>
        <p:txBody>
          <a:bodyPr wrap="none">
            <a:spAutoFit/>
          </a:bodyPr>
          <a:lstStyle/>
          <a:p>
            <a:pPr algn="ctr">
              <a:defRPr sz="1800" b="1">
                <a:solidFill>
                  <a:srgbClr val="162337"/>
                </a:solidFill>
              </a:defRPr>
            </a:pPr>
            <a:r>
              <a:t>Check in</a:t>
            </a:r>
          </a:p>
        </p:txBody>
      </p:sp>
      <p:sp>
        <p:nvSpPr>
          <p:cNvPr id="9" name="TextBox 8"/>
          <p:cNvSpPr txBox="1"/>
          <p:nvPr/>
        </p:nvSpPr>
        <p:spPr>
          <a:xfrm>
            <a:off x="932688" y="3703320"/>
            <a:ext cx="2011680" cy="822960"/>
          </a:xfrm>
          <a:prstGeom prst="rect">
            <a:avLst/>
          </a:prstGeom>
          <a:noFill/>
        </p:spPr>
        <p:txBody>
          <a:bodyPr wrap="none">
            <a:spAutoFit/>
          </a:bodyPr>
          <a:lstStyle/>
          <a:p>
            <a:pPr algn="ctr">
              <a:defRPr sz="1300">
                <a:solidFill>
                  <a:srgbClr val="5B6C7D"/>
                </a:solidFill>
              </a:defRPr>
            </a:pPr>
            <a:r>
              <a:t>Sleep, energy, mental load, mood + short note</a:t>
            </a:r>
          </a:p>
        </p:txBody>
      </p:sp>
      <p:sp>
        <p:nvSpPr>
          <p:cNvPr id="10" name="Chevron 9"/>
          <p:cNvSpPr/>
          <p:nvPr/>
        </p:nvSpPr>
        <p:spPr>
          <a:xfrm>
            <a:off x="3172968" y="2926080"/>
            <a:ext cx="320040" cy="502920"/>
          </a:xfrm>
          <a:prstGeom prst="chevron">
            <a:avLst/>
          </a:prstGeom>
          <a:solidFill>
            <a:srgbClr val="F191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3520439" y="1828800"/>
            <a:ext cx="2423160" cy="3017520"/>
          </a:xfrm>
          <a:prstGeom prst="roundRect">
            <a:avLst/>
          </a:prstGeom>
          <a:solidFill>
            <a:srgbClr val="FFFFFF"/>
          </a:solidFill>
          <a:ln>
            <a:solidFill>
              <a:srgbClr val="DCE4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4279392" y="2057400"/>
            <a:ext cx="914400" cy="914400"/>
          </a:xfrm>
          <a:prstGeom prst="ellipse">
            <a:avLst/>
          </a:prstGeom>
          <a:solidFill>
            <a:srgbClr val="2C96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279392" y="2240280"/>
            <a:ext cx="914400" cy="365760"/>
          </a:xfrm>
          <a:prstGeom prst="rect">
            <a:avLst/>
          </a:prstGeom>
          <a:noFill/>
        </p:spPr>
        <p:txBody>
          <a:bodyPr wrap="none">
            <a:spAutoFit/>
          </a:bodyPr>
          <a:lstStyle/>
          <a:p>
            <a:pPr algn="ctr">
              <a:defRPr sz="2200" b="1">
                <a:solidFill>
                  <a:srgbClr val="FFFFFF"/>
                </a:solidFill>
              </a:defRPr>
            </a:pPr>
            <a:r>
              <a:t>2</a:t>
            </a:r>
          </a:p>
        </p:txBody>
      </p:sp>
      <p:sp>
        <p:nvSpPr>
          <p:cNvPr id="14" name="TextBox 13"/>
          <p:cNvSpPr txBox="1"/>
          <p:nvPr/>
        </p:nvSpPr>
        <p:spPr>
          <a:xfrm>
            <a:off x="3703320" y="3200400"/>
            <a:ext cx="2057400" cy="411480"/>
          </a:xfrm>
          <a:prstGeom prst="rect">
            <a:avLst/>
          </a:prstGeom>
          <a:noFill/>
        </p:spPr>
        <p:txBody>
          <a:bodyPr wrap="none">
            <a:spAutoFit/>
          </a:bodyPr>
          <a:lstStyle/>
          <a:p>
            <a:pPr algn="ctr">
              <a:defRPr sz="1800" b="1">
                <a:solidFill>
                  <a:srgbClr val="162337"/>
                </a:solidFill>
              </a:defRPr>
            </a:pPr>
            <a:r>
              <a:t>Read calendar</a:t>
            </a:r>
          </a:p>
        </p:txBody>
      </p:sp>
      <p:sp>
        <p:nvSpPr>
          <p:cNvPr id="15" name="TextBox 14"/>
          <p:cNvSpPr txBox="1"/>
          <p:nvPr/>
        </p:nvSpPr>
        <p:spPr>
          <a:xfrm>
            <a:off x="3721607" y="3703320"/>
            <a:ext cx="2011680" cy="822960"/>
          </a:xfrm>
          <a:prstGeom prst="rect">
            <a:avLst/>
          </a:prstGeom>
          <a:noFill/>
        </p:spPr>
        <p:txBody>
          <a:bodyPr wrap="none">
            <a:spAutoFit/>
          </a:bodyPr>
          <a:lstStyle/>
          <a:p>
            <a:pPr algn="ctr">
              <a:defRPr sz="1300">
                <a:solidFill>
                  <a:srgbClr val="5B6C7D"/>
                </a:solidFill>
              </a:defRPr>
            </a:pPr>
            <a:r>
              <a:t>Automatically checks today's scheduled hours</a:t>
            </a:r>
          </a:p>
        </p:txBody>
      </p:sp>
      <p:sp>
        <p:nvSpPr>
          <p:cNvPr id="16" name="Chevron 15"/>
          <p:cNvSpPr/>
          <p:nvPr/>
        </p:nvSpPr>
        <p:spPr>
          <a:xfrm>
            <a:off x="5961888" y="2926080"/>
            <a:ext cx="320040" cy="502920"/>
          </a:xfrm>
          <a:prstGeom prst="chevron">
            <a:avLst/>
          </a:prstGeom>
          <a:solidFill>
            <a:srgbClr val="F191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309359" y="1828800"/>
            <a:ext cx="2423160" cy="3017520"/>
          </a:xfrm>
          <a:prstGeom prst="roundRect">
            <a:avLst/>
          </a:prstGeom>
          <a:solidFill>
            <a:srgbClr val="FFFFFF"/>
          </a:solidFill>
          <a:ln>
            <a:solidFill>
              <a:srgbClr val="DCE4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7068312" y="2057400"/>
            <a:ext cx="914400" cy="914400"/>
          </a:xfrm>
          <a:prstGeom prst="ellipse">
            <a:avLst/>
          </a:prstGeom>
          <a:solidFill>
            <a:srgbClr val="2C96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068312" y="2240280"/>
            <a:ext cx="914400" cy="365760"/>
          </a:xfrm>
          <a:prstGeom prst="rect">
            <a:avLst/>
          </a:prstGeom>
          <a:noFill/>
        </p:spPr>
        <p:txBody>
          <a:bodyPr wrap="none">
            <a:spAutoFit/>
          </a:bodyPr>
          <a:lstStyle/>
          <a:p>
            <a:pPr algn="ctr">
              <a:defRPr sz="2200" b="1">
                <a:solidFill>
                  <a:srgbClr val="FFFFFF"/>
                </a:solidFill>
              </a:defRPr>
            </a:pPr>
            <a:r>
              <a:t>3</a:t>
            </a:r>
          </a:p>
        </p:txBody>
      </p:sp>
      <p:sp>
        <p:nvSpPr>
          <p:cNvPr id="20" name="TextBox 19"/>
          <p:cNvSpPr txBox="1"/>
          <p:nvPr/>
        </p:nvSpPr>
        <p:spPr>
          <a:xfrm>
            <a:off x="6492240" y="3200400"/>
            <a:ext cx="2057400" cy="411480"/>
          </a:xfrm>
          <a:prstGeom prst="rect">
            <a:avLst/>
          </a:prstGeom>
          <a:noFill/>
        </p:spPr>
        <p:txBody>
          <a:bodyPr wrap="none">
            <a:spAutoFit/>
          </a:bodyPr>
          <a:lstStyle/>
          <a:p>
            <a:pPr algn="ctr">
              <a:defRPr sz="1800" b="1">
                <a:solidFill>
                  <a:srgbClr val="162337"/>
                </a:solidFill>
              </a:defRPr>
            </a:pPr>
            <a:r>
              <a:t>AI review</a:t>
            </a:r>
          </a:p>
        </p:txBody>
      </p:sp>
      <p:sp>
        <p:nvSpPr>
          <p:cNvPr id="21" name="TextBox 20"/>
          <p:cNvSpPr txBox="1"/>
          <p:nvPr/>
        </p:nvSpPr>
        <p:spPr>
          <a:xfrm>
            <a:off x="6510527" y="3703320"/>
            <a:ext cx="2011680" cy="822960"/>
          </a:xfrm>
          <a:prstGeom prst="rect">
            <a:avLst/>
          </a:prstGeom>
          <a:noFill/>
        </p:spPr>
        <p:txBody>
          <a:bodyPr wrap="none">
            <a:spAutoFit/>
          </a:bodyPr>
          <a:lstStyle/>
          <a:p>
            <a:pPr algn="ctr">
              <a:defRPr sz="1300">
                <a:solidFill>
                  <a:srgbClr val="5B6C7D"/>
                </a:solidFill>
              </a:defRPr>
            </a:pPr>
            <a:r>
              <a:t>Combines today's input with recent historical data</a:t>
            </a:r>
          </a:p>
        </p:txBody>
      </p:sp>
      <p:sp>
        <p:nvSpPr>
          <p:cNvPr id="22" name="Chevron 21"/>
          <p:cNvSpPr/>
          <p:nvPr/>
        </p:nvSpPr>
        <p:spPr>
          <a:xfrm>
            <a:off x="8750808" y="2926080"/>
            <a:ext cx="320040" cy="502920"/>
          </a:xfrm>
          <a:prstGeom prst="chevron">
            <a:avLst/>
          </a:prstGeom>
          <a:solidFill>
            <a:srgbClr val="F191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9098280" y="1828800"/>
            <a:ext cx="2423160" cy="3017520"/>
          </a:xfrm>
          <a:prstGeom prst="roundRect">
            <a:avLst/>
          </a:prstGeom>
          <a:solidFill>
            <a:srgbClr val="FFFFFF"/>
          </a:solidFill>
          <a:ln>
            <a:solidFill>
              <a:srgbClr val="DCE4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9857232" y="2057400"/>
            <a:ext cx="914400" cy="914400"/>
          </a:xfrm>
          <a:prstGeom prst="ellipse">
            <a:avLst/>
          </a:prstGeom>
          <a:solidFill>
            <a:srgbClr val="2C96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857232" y="2240280"/>
            <a:ext cx="914400" cy="365760"/>
          </a:xfrm>
          <a:prstGeom prst="rect">
            <a:avLst/>
          </a:prstGeom>
          <a:noFill/>
        </p:spPr>
        <p:txBody>
          <a:bodyPr wrap="none">
            <a:spAutoFit/>
          </a:bodyPr>
          <a:lstStyle/>
          <a:p>
            <a:pPr algn="ctr">
              <a:defRPr sz="2200" b="1">
                <a:solidFill>
                  <a:srgbClr val="FFFFFF"/>
                </a:solidFill>
              </a:defRPr>
            </a:pPr>
            <a:r>
              <a:t>4</a:t>
            </a:r>
          </a:p>
        </p:txBody>
      </p:sp>
      <p:sp>
        <p:nvSpPr>
          <p:cNvPr id="26" name="TextBox 25"/>
          <p:cNvSpPr txBox="1"/>
          <p:nvPr/>
        </p:nvSpPr>
        <p:spPr>
          <a:xfrm>
            <a:off x="9281159" y="3200400"/>
            <a:ext cx="2057400" cy="411480"/>
          </a:xfrm>
          <a:prstGeom prst="rect">
            <a:avLst/>
          </a:prstGeom>
          <a:noFill/>
        </p:spPr>
        <p:txBody>
          <a:bodyPr wrap="none">
            <a:spAutoFit/>
          </a:bodyPr>
          <a:lstStyle/>
          <a:p>
            <a:pPr algn="ctr">
              <a:defRPr sz="1800" b="1">
                <a:solidFill>
                  <a:srgbClr val="162337"/>
                </a:solidFill>
              </a:defRPr>
            </a:pPr>
            <a:r>
              <a:t>Save &amp; remind</a:t>
            </a:r>
          </a:p>
        </p:txBody>
      </p:sp>
      <p:sp>
        <p:nvSpPr>
          <p:cNvPr id="27" name="TextBox 26"/>
          <p:cNvSpPr txBox="1"/>
          <p:nvPr/>
        </p:nvSpPr>
        <p:spPr>
          <a:xfrm>
            <a:off x="9299448" y="3703320"/>
            <a:ext cx="2011680" cy="822960"/>
          </a:xfrm>
          <a:prstGeom prst="rect">
            <a:avLst/>
          </a:prstGeom>
          <a:noFill/>
        </p:spPr>
        <p:txBody>
          <a:bodyPr wrap="none">
            <a:spAutoFit/>
          </a:bodyPr>
          <a:lstStyle/>
          <a:p>
            <a:pPr algn="ctr">
              <a:defRPr sz="1300">
                <a:solidFill>
                  <a:srgbClr val="5B6C7D"/>
                </a:solidFill>
              </a:defRPr>
            </a:pPr>
            <a:r>
              <a:t>Updates DailyData and sends the daily reminder</a:t>
            </a:r>
          </a:p>
        </p:txBody>
      </p:sp>
      <p:sp>
        <p:nvSpPr>
          <p:cNvPr id="28" name="TextBox 27"/>
          <p:cNvSpPr txBox="1"/>
          <p:nvPr/>
        </p:nvSpPr>
        <p:spPr>
          <a:xfrm>
            <a:off x="11155680" y="6419088"/>
            <a:ext cx="457200" cy="228600"/>
          </a:xfrm>
          <a:prstGeom prst="rect">
            <a:avLst/>
          </a:prstGeom>
          <a:noFill/>
        </p:spPr>
        <p:txBody>
          <a:bodyPr wrap="none">
            <a:spAutoFit/>
          </a:bodyPr>
          <a:lstStyle/>
          <a:p>
            <a:pPr algn="r">
              <a:defRPr sz="900">
                <a:solidFill>
                  <a:srgbClr val="5B6C7D"/>
                </a:solidFill>
              </a:defRPr>
            </a:pPr>
            <a: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10972800" cy="685800"/>
          </a:xfrm>
          <a:prstGeom prst="rect">
            <a:avLst/>
          </a:prstGeom>
          <a:noFill/>
        </p:spPr>
        <p:txBody>
          <a:bodyPr wrap="none">
            <a:spAutoFit/>
          </a:bodyPr>
          <a:lstStyle/>
          <a:p>
            <a:pPr>
              <a:defRPr sz="3000" b="1">
                <a:solidFill>
                  <a:srgbClr val="162337"/>
                </a:solidFill>
              </a:defRPr>
            </a:pPr>
            <a:r>
              <a:t>What I built in n8n</a:t>
            </a:r>
          </a:p>
        </p:txBody>
      </p:sp>
      <p:sp>
        <p:nvSpPr>
          <p:cNvPr id="4" name="TextBox 3"/>
          <p:cNvSpPr txBox="1"/>
          <p:nvPr/>
        </p:nvSpPr>
        <p:spPr>
          <a:xfrm>
            <a:off x="658368" y="1078992"/>
            <a:ext cx="10698480" cy="502920"/>
          </a:xfrm>
          <a:prstGeom prst="rect">
            <a:avLst/>
          </a:prstGeom>
          <a:noFill/>
        </p:spPr>
        <p:txBody>
          <a:bodyPr wrap="none">
            <a:spAutoFit/>
          </a:bodyPr>
          <a:lstStyle/>
          <a:p>
            <a:pPr>
              <a:defRPr sz="1500">
                <a:solidFill>
                  <a:srgbClr val="5B6C7D"/>
                </a:solidFill>
              </a:defRPr>
            </a:pPr>
            <a:r>
              <a:t>The prototype is a working automation, not just a mock-up.</a:t>
            </a:r>
          </a:p>
        </p:txBody>
      </p:sp>
      <p:sp>
        <p:nvSpPr>
          <p:cNvPr id="6" name="TextBox 5"/>
          <p:cNvSpPr txBox="1"/>
          <p:nvPr/>
        </p:nvSpPr>
        <p:spPr>
          <a:xfrm>
            <a:off x="7452360" y="1417320"/>
            <a:ext cx="4114800" cy="4754880"/>
          </a:xfrm>
          <a:prstGeom prst="rect">
            <a:avLst/>
          </a:prstGeom>
          <a:noFill/>
        </p:spPr>
        <p:txBody>
          <a:bodyPr wrap="square">
            <a:spAutoFit/>
          </a:bodyPr>
          <a:lstStyle/>
          <a:p>
            <a:pPr>
              <a:spcAft>
                <a:spcPts val="1400"/>
              </a:spcAft>
              <a:defRPr sz="1700">
                <a:solidFill>
                  <a:srgbClr val="162337"/>
                </a:solidFill>
              </a:defRPr>
            </a:pPr>
            <a:r>
              <a:t>• Form submission starts the main workflow</a:t>
            </a:r>
          </a:p>
          <a:p>
            <a:pPr>
              <a:spcAft>
                <a:spcPts val="1400"/>
              </a:spcAft>
              <a:defRPr sz="1700">
                <a:solidFill>
                  <a:srgbClr val="162337"/>
                </a:solidFill>
              </a:defRPr>
            </a:pPr>
            <a:r>
              <a:t>• Google Calendar provides today's workload</a:t>
            </a:r>
          </a:p>
          <a:p>
            <a:pPr>
              <a:spcAft>
                <a:spcPts val="1400"/>
              </a:spcAft>
              <a:defRPr sz="1700">
                <a:solidFill>
                  <a:srgbClr val="162337"/>
                </a:solidFill>
              </a:defRPr>
            </a:pPr>
            <a:r>
              <a:t>• JavaScript prepares the calendar data</a:t>
            </a:r>
          </a:p>
          <a:p>
            <a:pPr>
              <a:spcAft>
                <a:spcPts val="1400"/>
              </a:spcAft>
              <a:defRPr sz="1700">
                <a:solidFill>
                  <a:srgbClr val="162337"/>
                </a:solidFill>
              </a:defRPr>
            </a:pPr>
            <a:r>
              <a:t>• OpenAI creates a personalized daily review</a:t>
            </a:r>
          </a:p>
          <a:p>
            <a:pPr>
              <a:spcAft>
                <a:spcPts val="1400"/>
              </a:spcAft>
              <a:defRPr sz="1700">
                <a:solidFill>
                  <a:srgbClr val="162337"/>
                </a:solidFill>
              </a:defRPr>
            </a:pPr>
            <a:r>
              <a:t>• Google Sheets stores the result and history</a:t>
            </a:r>
          </a:p>
          <a:p>
            <a:pPr>
              <a:spcAft>
                <a:spcPts val="1400"/>
              </a:spcAft>
              <a:defRPr sz="1700">
                <a:solidFill>
                  <a:srgbClr val="162337"/>
                </a:solidFill>
              </a:defRPr>
            </a:pPr>
            <a:r>
              <a:t>• A separate Schedule Trigger sends the reminder email</a:t>
            </a:r>
          </a:p>
        </p:txBody>
      </p:sp>
      <p:sp>
        <p:nvSpPr>
          <p:cNvPr id="7" name="TextBox 6"/>
          <p:cNvSpPr txBox="1"/>
          <p:nvPr/>
        </p:nvSpPr>
        <p:spPr>
          <a:xfrm>
            <a:off x="11155680" y="6419088"/>
            <a:ext cx="457200" cy="228600"/>
          </a:xfrm>
          <a:prstGeom prst="rect">
            <a:avLst/>
          </a:prstGeom>
          <a:noFill/>
        </p:spPr>
        <p:txBody>
          <a:bodyPr wrap="none">
            <a:spAutoFit/>
          </a:bodyPr>
          <a:lstStyle/>
          <a:p>
            <a:pPr algn="r">
              <a:defRPr sz="900">
                <a:solidFill>
                  <a:srgbClr val="5B6C7D"/>
                </a:solidFill>
              </a:defRPr>
            </a:pPr>
            <a:r>
              <a:t>4</a:t>
            </a:r>
          </a:p>
        </p:txBody>
      </p:sp>
      <p:pic>
        <p:nvPicPr>
          <p:cNvPr id="8" name="Picture 7" descr="74c5ea4c-bb05-4765-aaac-ddb45329da09.png"/>
          <p:cNvPicPr>
            <a:picLocks noChangeAspect="1"/>
          </p:cNvPicPr>
          <p:nvPr/>
        </p:nvPicPr>
        <p:blipFill>
          <a:blip r:embed="rId3"/>
          <a:stretch>
            <a:fillRect/>
          </a:stretch>
        </p:blipFill>
        <p:spPr>
          <a:xfrm>
            <a:off x="502920" y="1481328"/>
            <a:ext cx="6720840" cy="1704595"/>
          </a:xfrm>
          <a:prstGeom prst="rect">
            <a:avLst/>
          </a:prstGeom>
        </p:spPr>
      </p:pic>
      <p:sp>
        <p:nvSpPr>
          <p:cNvPr id="9" name="Rounded Rectangle 8"/>
          <p:cNvSpPr/>
          <p:nvPr/>
        </p:nvSpPr>
        <p:spPr>
          <a:xfrm>
            <a:off x="7452360" y="5349240"/>
            <a:ext cx="4069080" cy="658368"/>
          </a:xfrm>
          <a:prstGeom prst="roundRect">
            <a:avLst/>
          </a:prstGeom>
          <a:solidFill>
            <a:srgbClr val="E1F1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635240" y="5504688"/>
            <a:ext cx="3657600" cy="320040"/>
          </a:xfrm>
          <a:prstGeom prst="rect">
            <a:avLst/>
          </a:prstGeom>
          <a:noFill/>
        </p:spPr>
        <p:txBody>
          <a:bodyPr wrap="none">
            <a:spAutoFit/>
          </a:bodyPr>
          <a:lstStyle/>
          <a:p>
            <a:pPr>
              <a:defRPr sz="1400" b="1">
                <a:solidFill>
                  <a:srgbClr val="2C9691"/>
                </a:solidFill>
              </a:defRPr>
            </a:pPr>
            <a:r>
              <a:t>✓ 6+ nodes   ✓ AI   ✓ automatic triggers</a:t>
            </a:r>
          </a:p>
        </p:txBody>
      </p:sp>
      <p:sp>
        <p:nvSpPr>
          <p:cNvPr id="11" name="TextBox 10"/>
          <p:cNvSpPr txBox="1"/>
          <p:nvPr/>
        </p:nvSpPr>
        <p:spPr>
          <a:xfrm>
            <a:off x="685800" y="6080760"/>
            <a:ext cx="6400800" cy="320040"/>
          </a:xfrm>
          <a:prstGeom prst="rect">
            <a:avLst/>
          </a:prstGeom>
          <a:noFill/>
        </p:spPr>
        <p:txBody>
          <a:bodyPr wrap="none">
            <a:spAutoFit/>
          </a:bodyPr>
          <a:lstStyle/>
          <a:p>
            <a:pPr>
              <a:defRPr sz="1200" i="1">
                <a:solidFill>
                  <a:srgbClr val="5B6C7D"/>
                </a:solidFill>
              </a:defRPr>
            </a:pPr>
            <a:r>
              <a:t>Demo: submit the form → show AI review → show updated Google Sheet / reminder email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10972800" cy="685800"/>
          </a:xfrm>
          <a:prstGeom prst="rect">
            <a:avLst/>
          </a:prstGeom>
          <a:noFill/>
        </p:spPr>
        <p:txBody>
          <a:bodyPr wrap="none">
            <a:spAutoFit/>
          </a:bodyPr>
          <a:lstStyle/>
          <a:p>
            <a:pPr>
              <a:defRPr sz="3000" b="1">
                <a:solidFill>
                  <a:srgbClr val="162337"/>
                </a:solidFill>
              </a:defRPr>
            </a:pPr>
            <a:r>
              <a:t>What the AI actually does</a:t>
            </a:r>
          </a:p>
        </p:txBody>
      </p:sp>
      <p:sp>
        <p:nvSpPr>
          <p:cNvPr id="4" name="TextBox 3"/>
          <p:cNvSpPr txBox="1"/>
          <p:nvPr/>
        </p:nvSpPr>
        <p:spPr>
          <a:xfrm>
            <a:off x="658368" y="1078992"/>
            <a:ext cx="10698480" cy="502920"/>
          </a:xfrm>
          <a:prstGeom prst="rect">
            <a:avLst/>
          </a:prstGeom>
          <a:noFill/>
        </p:spPr>
        <p:txBody>
          <a:bodyPr wrap="none">
            <a:spAutoFit/>
          </a:bodyPr>
          <a:lstStyle/>
          <a:p>
            <a:pPr>
              <a:defRPr sz="1500">
                <a:solidFill>
                  <a:srgbClr val="5B6C7D"/>
                </a:solidFill>
              </a:defRPr>
            </a:pPr>
            <a:r>
              <a:t>It uses context instead of producing a generic wellness message.</a:t>
            </a:r>
          </a:p>
        </p:txBody>
      </p:sp>
      <p:sp>
        <p:nvSpPr>
          <p:cNvPr id="5" name="Rounded Rectangle 4"/>
          <p:cNvSpPr/>
          <p:nvPr/>
        </p:nvSpPr>
        <p:spPr>
          <a:xfrm>
            <a:off x="731520" y="1508760"/>
            <a:ext cx="3474720" cy="1828800"/>
          </a:xfrm>
          <a:prstGeom prst="roundRect">
            <a:avLst/>
          </a:prstGeom>
          <a:solidFill>
            <a:srgbClr val="FFFFFF"/>
          </a:solidFill>
          <a:ln>
            <a:solidFill>
              <a:srgbClr val="DCE4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31520" y="1508760"/>
            <a:ext cx="73152" cy="1828800"/>
          </a:xfrm>
          <a:prstGeom prst="rect">
            <a:avLst/>
          </a:prstGeom>
          <a:solidFill>
            <a:srgbClr val="2C96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1673351"/>
            <a:ext cx="3063239" cy="365760"/>
          </a:xfrm>
          <a:prstGeom prst="rect">
            <a:avLst/>
          </a:prstGeom>
          <a:noFill/>
        </p:spPr>
        <p:txBody>
          <a:bodyPr wrap="none">
            <a:spAutoFit/>
          </a:bodyPr>
          <a:lstStyle/>
          <a:p>
            <a:pPr>
              <a:defRPr sz="1800" b="1">
                <a:solidFill>
                  <a:srgbClr val="162337"/>
                </a:solidFill>
              </a:defRPr>
            </a:pPr>
            <a:r>
              <a:t>Today's input</a:t>
            </a:r>
          </a:p>
        </p:txBody>
      </p:sp>
      <p:sp>
        <p:nvSpPr>
          <p:cNvPr id="8" name="TextBox 7"/>
          <p:cNvSpPr txBox="1"/>
          <p:nvPr/>
        </p:nvSpPr>
        <p:spPr>
          <a:xfrm>
            <a:off x="960120" y="2167128"/>
            <a:ext cx="3063239" cy="1051560"/>
          </a:xfrm>
          <a:prstGeom prst="rect">
            <a:avLst/>
          </a:prstGeom>
          <a:noFill/>
        </p:spPr>
        <p:txBody>
          <a:bodyPr wrap="square">
            <a:spAutoFit/>
          </a:bodyPr>
          <a:lstStyle/>
          <a:p>
            <a:pPr>
              <a:defRPr sz="1400">
                <a:solidFill>
                  <a:srgbClr val="5B6C7D"/>
                </a:solidFill>
              </a:defRPr>
            </a:pPr>
            <a:r>
              <a:t>Sleep • energy • mental load • mood • free-text note</a:t>
            </a:r>
          </a:p>
        </p:txBody>
      </p:sp>
      <p:sp>
        <p:nvSpPr>
          <p:cNvPr id="9" name="Rounded Rectangle 8"/>
          <p:cNvSpPr/>
          <p:nvPr/>
        </p:nvSpPr>
        <p:spPr>
          <a:xfrm>
            <a:off x="731520" y="3657600"/>
            <a:ext cx="3474720" cy="1828800"/>
          </a:xfrm>
          <a:prstGeom prst="roundRect">
            <a:avLst/>
          </a:prstGeom>
          <a:solidFill>
            <a:srgbClr val="FFFFFF"/>
          </a:solidFill>
          <a:ln>
            <a:solidFill>
              <a:srgbClr val="DCE4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31520" y="3657600"/>
            <a:ext cx="73152" cy="1828800"/>
          </a:xfrm>
          <a:prstGeom prst="rect">
            <a:avLst/>
          </a:prstGeom>
          <a:solidFill>
            <a:srgbClr val="F191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60120" y="3822191"/>
            <a:ext cx="3063239" cy="365760"/>
          </a:xfrm>
          <a:prstGeom prst="rect">
            <a:avLst/>
          </a:prstGeom>
          <a:noFill/>
        </p:spPr>
        <p:txBody>
          <a:bodyPr wrap="none">
            <a:spAutoFit/>
          </a:bodyPr>
          <a:lstStyle/>
          <a:p>
            <a:pPr>
              <a:defRPr sz="1800" b="1">
                <a:solidFill>
                  <a:srgbClr val="162337"/>
                </a:solidFill>
              </a:defRPr>
            </a:pPr>
            <a:r>
              <a:t>Context</a:t>
            </a:r>
          </a:p>
        </p:txBody>
      </p:sp>
      <p:sp>
        <p:nvSpPr>
          <p:cNvPr id="12" name="TextBox 11"/>
          <p:cNvSpPr txBox="1"/>
          <p:nvPr/>
        </p:nvSpPr>
        <p:spPr>
          <a:xfrm>
            <a:off x="960120" y="4315968"/>
            <a:ext cx="3063239" cy="1051560"/>
          </a:xfrm>
          <a:prstGeom prst="rect">
            <a:avLst/>
          </a:prstGeom>
          <a:noFill/>
        </p:spPr>
        <p:txBody>
          <a:bodyPr wrap="square">
            <a:spAutoFit/>
          </a:bodyPr>
          <a:lstStyle/>
          <a:p>
            <a:pPr>
              <a:defRPr sz="1400">
                <a:solidFill>
                  <a:srgbClr val="5B6C7D"/>
                </a:solidFill>
              </a:defRPr>
            </a:pPr>
            <a:r>
              <a:t>Calendar workload + previous DailyData entries</a:t>
            </a:r>
          </a:p>
        </p:txBody>
      </p:sp>
      <p:sp>
        <p:nvSpPr>
          <p:cNvPr id="13" name="Hexagon 12"/>
          <p:cNvSpPr/>
          <p:nvPr/>
        </p:nvSpPr>
        <p:spPr>
          <a:xfrm>
            <a:off x="4754880" y="2240280"/>
            <a:ext cx="2560320" cy="1828800"/>
          </a:xfrm>
          <a:prstGeom prst="hexagon">
            <a:avLst/>
          </a:prstGeom>
          <a:solidFill>
            <a:srgbClr val="1623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074920" y="2697480"/>
            <a:ext cx="1920240" cy="731520"/>
          </a:xfrm>
          <a:prstGeom prst="rect">
            <a:avLst/>
          </a:prstGeom>
          <a:noFill/>
        </p:spPr>
        <p:txBody>
          <a:bodyPr wrap="none">
            <a:spAutoFit/>
          </a:bodyPr>
          <a:lstStyle/>
          <a:p>
            <a:pPr algn="ctr">
              <a:defRPr sz="2300" b="1">
                <a:solidFill>
                  <a:srgbClr val="FFFFFF"/>
                </a:solidFill>
              </a:defRPr>
            </a:pPr>
            <a:r>
              <a:t>AI REVIEW</a:t>
            </a:r>
          </a:p>
        </p:txBody>
      </p:sp>
      <p:sp>
        <p:nvSpPr>
          <p:cNvPr id="15" name="Rounded Rectangle 14"/>
          <p:cNvSpPr/>
          <p:nvPr/>
        </p:nvSpPr>
        <p:spPr>
          <a:xfrm>
            <a:off x="7863840" y="1508760"/>
            <a:ext cx="3566160" cy="3977639"/>
          </a:xfrm>
          <a:prstGeom prst="roundRect">
            <a:avLst/>
          </a:prstGeom>
          <a:solidFill>
            <a:srgbClr val="FFFFFF"/>
          </a:solidFill>
          <a:ln>
            <a:solidFill>
              <a:srgbClr val="DCE4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863840" y="1508760"/>
            <a:ext cx="73152" cy="3977639"/>
          </a:xfrm>
          <a:prstGeom prst="rect">
            <a:avLst/>
          </a:prstGeom>
          <a:solidFill>
            <a:srgbClr val="2C96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092440" y="1673351"/>
            <a:ext cx="3154679" cy="365760"/>
          </a:xfrm>
          <a:prstGeom prst="rect">
            <a:avLst/>
          </a:prstGeom>
          <a:noFill/>
        </p:spPr>
        <p:txBody>
          <a:bodyPr wrap="none">
            <a:spAutoFit/>
          </a:bodyPr>
          <a:lstStyle/>
          <a:p>
            <a:pPr>
              <a:defRPr sz="1800" b="1">
                <a:solidFill>
                  <a:srgbClr val="162337"/>
                </a:solidFill>
              </a:defRPr>
            </a:pPr>
            <a:r>
              <a:t>Output</a:t>
            </a:r>
          </a:p>
        </p:txBody>
      </p:sp>
      <p:sp>
        <p:nvSpPr>
          <p:cNvPr id="18" name="TextBox 17"/>
          <p:cNvSpPr txBox="1"/>
          <p:nvPr/>
        </p:nvSpPr>
        <p:spPr>
          <a:xfrm>
            <a:off x="8092440" y="2167128"/>
            <a:ext cx="3154679" cy="3200399"/>
          </a:xfrm>
          <a:prstGeom prst="rect">
            <a:avLst/>
          </a:prstGeom>
          <a:noFill/>
        </p:spPr>
        <p:txBody>
          <a:bodyPr wrap="square">
            <a:spAutoFit/>
          </a:bodyPr>
          <a:lstStyle/>
          <a:p>
            <a:pPr>
              <a:defRPr sz="1400">
                <a:solidFill>
                  <a:srgbClr val="5B6C7D"/>
                </a:solidFill>
              </a:defRPr>
            </a:pPr>
            <a:r>
              <a:t>1. Daily summary</a:t>
            </a:r>
            <a:br/>
            <a:br/>
            <a:r>
              <a:t>2. What is going well</a:t>
            </a:r>
            <a:br/>
            <a:br/>
            <a:r>
              <a:t>3. What to watch</a:t>
            </a:r>
            <a:br/>
            <a:br/>
            <a:r>
              <a:t>4. Practical advice for today</a:t>
            </a:r>
          </a:p>
        </p:txBody>
      </p:sp>
      <p:sp>
        <p:nvSpPr>
          <p:cNvPr id="19" name="TextBox 18"/>
          <p:cNvSpPr txBox="1"/>
          <p:nvPr/>
        </p:nvSpPr>
        <p:spPr>
          <a:xfrm>
            <a:off x="11155680" y="6419088"/>
            <a:ext cx="457200" cy="228600"/>
          </a:xfrm>
          <a:prstGeom prst="rect">
            <a:avLst/>
          </a:prstGeom>
          <a:noFill/>
        </p:spPr>
        <p:txBody>
          <a:bodyPr wrap="none">
            <a:spAutoFit/>
          </a:bodyPr>
          <a:lstStyle/>
          <a:p>
            <a:pPr algn="r">
              <a:defRPr sz="900">
                <a:solidFill>
                  <a:srgbClr val="5B6C7D"/>
                </a:solidFill>
              </a:defRPr>
            </a:pPr>
            <a: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10972800" cy="685800"/>
          </a:xfrm>
          <a:prstGeom prst="rect">
            <a:avLst/>
          </a:prstGeom>
          <a:noFill/>
        </p:spPr>
        <p:txBody>
          <a:bodyPr wrap="none">
            <a:spAutoFit/>
          </a:bodyPr>
          <a:lstStyle/>
          <a:p>
            <a:pPr>
              <a:defRPr sz="3000" b="1">
                <a:solidFill>
                  <a:srgbClr val="162337"/>
                </a:solidFill>
              </a:defRPr>
            </a:pPr>
            <a:r>
              <a:t>Example output</a:t>
            </a:r>
          </a:p>
        </p:txBody>
      </p:sp>
      <p:sp>
        <p:nvSpPr>
          <p:cNvPr id="4" name="TextBox 3"/>
          <p:cNvSpPr txBox="1"/>
          <p:nvPr/>
        </p:nvSpPr>
        <p:spPr>
          <a:xfrm>
            <a:off x="658368" y="1078992"/>
            <a:ext cx="10698480" cy="502920"/>
          </a:xfrm>
          <a:prstGeom prst="rect">
            <a:avLst/>
          </a:prstGeom>
          <a:noFill/>
        </p:spPr>
        <p:txBody>
          <a:bodyPr wrap="none">
            <a:spAutoFit/>
          </a:bodyPr>
          <a:lstStyle/>
          <a:p>
            <a:pPr>
              <a:defRPr sz="1500">
                <a:solidFill>
                  <a:srgbClr val="5B6C7D"/>
                </a:solidFill>
              </a:defRPr>
            </a:pPr>
            <a:r>
              <a:t>The result is immediately understandable and actionable.</a:t>
            </a:r>
          </a:p>
        </p:txBody>
      </p:sp>
      <p:sp>
        <p:nvSpPr>
          <p:cNvPr id="5" name="Rounded Rectangle 4"/>
          <p:cNvSpPr/>
          <p:nvPr/>
        </p:nvSpPr>
        <p:spPr>
          <a:xfrm>
            <a:off x="914400" y="1554480"/>
            <a:ext cx="10332720" cy="2880360"/>
          </a:xfrm>
          <a:prstGeom prst="roundRect">
            <a:avLst/>
          </a:prstGeom>
          <a:solidFill>
            <a:srgbClr val="FFFFFF"/>
          </a:solidFill>
          <a:ln>
            <a:solidFill>
              <a:srgbClr val="DCE4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325880" y="1965960"/>
            <a:ext cx="9509760" cy="2011680"/>
          </a:xfrm>
          <a:prstGeom prst="rect">
            <a:avLst/>
          </a:prstGeom>
          <a:noFill/>
        </p:spPr>
        <p:txBody>
          <a:bodyPr wrap="none">
            <a:spAutoFit/>
          </a:bodyPr>
          <a:lstStyle/>
          <a:p>
            <a:pPr algn="ctr">
              <a:defRPr sz="2400" i="1">
                <a:solidFill>
                  <a:srgbClr val="162337"/>
                </a:solidFill>
              </a:defRPr>
            </a:pPr>
            <a:r>
              <a:t>“You slept 7 hours and reported a good mood. Your calendar is relatively open today, so you have flexibility. Because you still feel tired, start with one small clear task, take an early restorative break and reassess your energy.”</a:t>
            </a:r>
          </a:p>
        </p:txBody>
      </p:sp>
      <p:sp>
        <p:nvSpPr>
          <p:cNvPr id="7" name="TextBox 6"/>
          <p:cNvSpPr txBox="1"/>
          <p:nvPr/>
        </p:nvSpPr>
        <p:spPr>
          <a:xfrm>
            <a:off x="1188720" y="4800600"/>
            <a:ext cx="9784080" cy="822960"/>
          </a:xfrm>
          <a:prstGeom prst="rect">
            <a:avLst/>
          </a:prstGeom>
          <a:noFill/>
        </p:spPr>
        <p:txBody>
          <a:bodyPr wrap="none">
            <a:spAutoFit/>
          </a:bodyPr>
          <a:lstStyle/>
          <a:p>
            <a:pPr algn="ctr">
              <a:defRPr sz="1800" b="1">
                <a:solidFill>
                  <a:srgbClr val="2C9691"/>
                </a:solidFill>
              </a:defRPr>
            </a:pPr>
            <a:r>
              <a:t>Important: Flow State is a planning &amp; self-reflection tool — not a medical diagnosis system.</a:t>
            </a:r>
          </a:p>
        </p:txBody>
      </p:sp>
      <p:sp>
        <p:nvSpPr>
          <p:cNvPr id="8" name="TextBox 7"/>
          <p:cNvSpPr txBox="1"/>
          <p:nvPr/>
        </p:nvSpPr>
        <p:spPr>
          <a:xfrm>
            <a:off x="11155680" y="6419088"/>
            <a:ext cx="457200" cy="228600"/>
          </a:xfrm>
          <a:prstGeom prst="rect">
            <a:avLst/>
          </a:prstGeom>
          <a:noFill/>
        </p:spPr>
        <p:txBody>
          <a:bodyPr wrap="none">
            <a:spAutoFit/>
          </a:bodyPr>
          <a:lstStyle/>
          <a:p>
            <a:pPr algn="r">
              <a:defRPr sz="900">
                <a:solidFill>
                  <a:srgbClr val="5B6C7D"/>
                </a:solidFill>
              </a:defRPr>
            </a:pPr>
            <a: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10972800" cy="685800"/>
          </a:xfrm>
          <a:prstGeom prst="rect">
            <a:avLst/>
          </a:prstGeom>
          <a:noFill/>
        </p:spPr>
        <p:txBody>
          <a:bodyPr wrap="none">
            <a:spAutoFit/>
          </a:bodyPr>
          <a:lstStyle/>
          <a:p>
            <a:pPr>
              <a:defRPr sz="3000" b="1">
                <a:solidFill>
                  <a:srgbClr val="162337"/>
                </a:solidFill>
              </a:defRPr>
            </a:pPr>
            <a:r>
              <a:t>Why this is useful</a:t>
            </a:r>
          </a:p>
        </p:txBody>
      </p:sp>
      <p:sp>
        <p:nvSpPr>
          <p:cNvPr id="4" name="TextBox 3"/>
          <p:cNvSpPr txBox="1"/>
          <p:nvPr/>
        </p:nvSpPr>
        <p:spPr>
          <a:xfrm>
            <a:off x="658368" y="1078992"/>
            <a:ext cx="10698480" cy="502920"/>
          </a:xfrm>
          <a:prstGeom prst="rect">
            <a:avLst/>
          </a:prstGeom>
          <a:noFill/>
        </p:spPr>
        <p:txBody>
          <a:bodyPr wrap="none">
            <a:spAutoFit/>
          </a:bodyPr>
          <a:lstStyle/>
          <a:p>
            <a:pPr>
              <a:defRPr sz="1500">
                <a:solidFill>
                  <a:srgbClr val="5B6C7D"/>
                </a:solidFill>
              </a:defRPr>
            </a:pPr>
            <a:r>
              <a:t>The value comes from connecting data that normally stays separate.</a:t>
            </a:r>
          </a:p>
        </p:txBody>
      </p:sp>
      <p:sp>
        <p:nvSpPr>
          <p:cNvPr id="5" name="Rounded Rectangle 4"/>
          <p:cNvSpPr/>
          <p:nvPr/>
        </p:nvSpPr>
        <p:spPr>
          <a:xfrm>
            <a:off x="731520" y="1554480"/>
            <a:ext cx="3429000" cy="3383280"/>
          </a:xfrm>
          <a:prstGeom prst="roundRect">
            <a:avLst/>
          </a:prstGeom>
          <a:solidFill>
            <a:srgbClr val="FFFFFF"/>
          </a:solidFill>
          <a:ln>
            <a:solidFill>
              <a:srgbClr val="DCE4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31520" y="1554480"/>
            <a:ext cx="73152" cy="3383280"/>
          </a:xfrm>
          <a:prstGeom prst="rect">
            <a:avLst/>
          </a:prstGeom>
          <a:solidFill>
            <a:srgbClr val="2C96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1719072"/>
            <a:ext cx="3017520" cy="365760"/>
          </a:xfrm>
          <a:prstGeom prst="rect">
            <a:avLst/>
          </a:prstGeom>
          <a:noFill/>
        </p:spPr>
        <p:txBody>
          <a:bodyPr wrap="none">
            <a:spAutoFit/>
          </a:bodyPr>
          <a:lstStyle/>
          <a:p>
            <a:pPr>
              <a:defRPr sz="1800" b="1">
                <a:solidFill>
                  <a:srgbClr val="162337"/>
                </a:solidFill>
              </a:defRPr>
            </a:pPr>
            <a:r>
              <a:t>Low effort</a:t>
            </a:r>
          </a:p>
        </p:txBody>
      </p:sp>
      <p:sp>
        <p:nvSpPr>
          <p:cNvPr id="8" name="TextBox 7"/>
          <p:cNvSpPr txBox="1"/>
          <p:nvPr/>
        </p:nvSpPr>
        <p:spPr>
          <a:xfrm>
            <a:off x="960120" y="2212848"/>
            <a:ext cx="3017520" cy="2606040"/>
          </a:xfrm>
          <a:prstGeom prst="rect">
            <a:avLst/>
          </a:prstGeom>
          <a:noFill/>
        </p:spPr>
        <p:txBody>
          <a:bodyPr wrap="square">
            <a:spAutoFit/>
          </a:bodyPr>
          <a:lstStyle/>
          <a:p>
            <a:pPr>
              <a:defRPr sz="1400">
                <a:solidFill>
                  <a:srgbClr val="5B6C7D"/>
                </a:solidFill>
              </a:defRPr>
            </a:pPr>
            <a:r>
              <a:t>One short form. The calendar lookup, analysis, storage and reminder are automated.</a:t>
            </a:r>
          </a:p>
        </p:txBody>
      </p:sp>
      <p:sp>
        <p:nvSpPr>
          <p:cNvPr id="9" name="Rounded Rectangle 8"/>
          <p:cNvSpPr/>
          <p:nvPr/>
        </p:nvSpPr>
        <p:spPr>
          <a:xfrm>
            <a:off x="4389120" y="1554480"/>
            <a:ext cx="3429000" cy="3383280"/>
          </a:xfrm>
          <a:prstGeom prst="roundRect">
            <a:avLst/>
          </a:prstGeom>
          <a:solidFill>
            <a:srgbClr val="FFFFFF"/>
          </a:solidFill>
          <a:ln>
            <a:solidFill>
              <a:srgbClr val="DCE4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389120" y="1554480"/>
            <a:ext cx="73152" cy="3383280"/>
          </a:xfrm>
          <a:prstGeom prst="rect">
            <a:avLst/>
          </a:prstGeom>
          <a:solidFill>
            <a:srgbClr val="2C96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617720" y="1719072"/>
            <a:ext cx="3017520" cy="365760"/>
          </a:xfrm>
          <a:prstGeom prst="rect">
            <a:avLst/>
          </a:prstGeom>
          <a:noFill/>
        </p:spPr>
        <p:txBody>
          <a:bodyPr wrap="none">
            <a:spAutoFit/>
          </a:bodyPr>
          <a:lstStyle/>
          <a:p>
            <a:pPr>
              <a:defRPr sz="1800" b="1">
                <a:solidFill>
                  <a:srgbClr val="162337"/>
                </a:solidFill>
              </a:defRPr>
            </a:pPr>
            <a:r>
              <a:t>Personalized</a:t>
            </a:r>
          </a:p>
        </p:txBody>
      </p:sp>
      <p:sp>
        <p:nvSpPr>
          <p:cNvPr id="12" name="TextBox 11"/>
          <p:cNvSpPr txBox="1"/>
          <p:nvPr/>
        </p:nvSpPr>
        <p:spPr>
          <a:xfrm>
            <a:off x="4617720" y="2212848"/>
            <a:ext cx="3017520" cy="2606040"/>
          </a:xfrm>
          <a:prstGeom prst="rect">
            <a:avLst/>
          </a:prstGeom>
          <a:noFill/>
        </p:spPr>
        <p:txBody>
          <a:bodyPr wrap="square">
            <a:spAutoFit/>
          </a:bodyPr>
          <a:lstStyle/>
          <a:p>
            <a:pPr>
              <a:defRPr sz="1400">
                <a:solidFill>
                  <a:srgbClr val="5B6C7D"/>
                </a:solidFill>
              </a:defRPr>
            </a:pPr>
            <a:r>
              <a:t>Advice changes with both subjective input and objective workload.</a:t>
            </a:r>
          </a:p>
        </p:txBody>
      </p:sp>
      <p:sp>
        <p:nvSpPr>
          <p:cNvPr id="13" name="Rounded Rectangle 12"/>
          <p:cNvSpPr/>
          <p:nvPr/>
        </p:nvSpPr>
        <p:spPr>
          <a:xfrm>
            <a:off x="8046720" y="1554480"/>
            <a:ext cx="3429000" cy="3383280"/>
          </a:xfrm>
          <a:prstGeom prst="roundRect">
            <a:avLst/>
          </a:prstGeom>
          <a:solidFill>
            <a:srgbClr val="FFFFFF"/>
          </a:solidFill>
          <a:ln>
            <a:solidFill>
              <a:srgbClr val="DCE4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046720" y="1554480"/>
            <a:ext cx="73152" cy="3383280"/>
          </a:xfrm>
          <a:prstGeom prst="rect">
            <a:avLst/>
          </a:prstGeom>
          <a:solidFill>
            <a:srgbClr val="2C96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75320" y="1719072"/>
            <a:ext cx="3017520" cy="365760"/>
          </a:xfrm>
          <a:prstGeom prst="rect">
            <a:avLst/>
          </a:prstGeom>
          <a:noFill/>
        </p:spPr>
        <p:txBody>
          <a:bodyPr wrap="none">
            <a:spAutoFit/>
          </a:bodyPr>
          <a:lstStyle/>
          <a:p>
            <a:pPr>
              <a:defRPr sz="1800" b="1">
                <a:solidFill>
                  <a:srgbClr val="162337"/>
                </a:solidFill>
              </a:defRPr>
            </a:pPr>
            <a:r>
              <a:t>Learns over time</a:t>
            </a:r>
          </a:p>
        </p:txBody>
      </p:sp>
      <p:sp>
        <p:nvSpPr>
          <p:cNvPr id="16" name="TextBox 15"/>
          <p:cNvSpPr txBox="1"/>
          <p:nvPr/>
        </p:nvSpPr>
        <p:spPr>
          <a:xfrm>
            <a:off x="8275320" y="2212848"/>
            <a:ext cx="3017520" cy="2606040"/>
          </a:xfrm>
          <a:prstGeom prst="rect">
            <a:avLst/>
          </a:prstGeom>
          <a:noFill/>
        </p:spPr>
        <p:txBody>
          <a:bodyPr wrap="square">
            <a:spAutoFit/>
          </a:bodyPr>
          <a:lstStyle/>
          <a:p>
            <a:pPr>
              <a:defRPr sz="1400">
                <a:solidFill>
                  <a:srgbClr val="5B6C7D"/>
                </a:solidFill>
              </a:defRPr>
            </a:pPr>
            <a:r>
              <a:t>DailyData creates a history that can later reveal patterns and support better planning.</a:t>
            </a:r>
          </a:p>
        </p:txBody>
      </p:sp>
      <p:sp>
        <p:nvSpPr>
          <p:cNvPr id="17" name="TextBox 16"/>
          <p:cNvSpPr txBox="1"/>
          <p:nvPr/>
        </p:nvSpPr>
        <p:spPr>
          <a:xfrm>
            <a:off x="914400" y="5257800"/>
            <a:ext cx="10332720" cy="640080"/>
          </a:xfrm>
          <a:prstGeom prst="rect">
            <a:avLst/>
          </a:prstGeom>
          <a:noFill/>
        </p:spPr>
        <p:txBody>
          <a:bodyPr wrap="none">
            <a:spAutoFit/>
          </a:bodyPr>
          <a:lstStyle/>
          <a:p>
            <a:pPr algn="ctr">
              <a:defRPr sz="2000" b="1">
                <a:solidFill>
                  <a:srgbClr val="162337"/>
                </a:solidFill>
              </a:defRPr>
            </a:pPr>
            <a:r>
              <a:t>Future step: a dashboard with weekly trends, overload signals and smarter reminders.</a:t>
            </a:r>
          </a:p>
        </p:txBody>
      </p:sp>
      <p:sp>
        <p:nvSpPr>
          <p:cNvPr id="18" name="TextBox 17"/>
          <p:cNvSpPr txBox="1"/>
          <p:nvPr/>
        </p:nvSpPr>
        <p:spPr>
          <a:xfrm>
            <a:off x="11155680" y="6419088"/>
            <a:ext cx="457200" cy="228600"/>
          </a:xfrm>
          <a:prstGeom prst="rect">
            <a:avLst/>
          </a:prstGeom>
          <a:noFill/>
        </p:spPr>
        <p:txBody>
          <a:bodyPr wrap="none">
            <a:spAutoFit/>
          </a:bodyPr>
          <a:lstStyle/>
          <a:p>
            <a:pPr algn="r">
              <a:defRPr sz="900">
                <a:solidFill>
                  <a:srgbClr val="5B6C7D"/>
                </a:solidFill>
              </a:defRPr>
            </a:pPr>
            <a: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623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143000"/>
            <a:ext cx="10332720" cy="914400"/>
          </a:xfrm>
          <a:prstGeom prst="rect">
            <a:avLst/>
          </a:prstGeom>
          <a:noFill/>
        </p:spPr>
        <p:txBody>
          <a:bodyPr wrap="none">
            <a:spAutoFit/>
          </a:bodyPr>
          <a:lstStyle/>
          <a:p>
            <a:pPr algn="ctr">
              <a:defRPr sz="4400" b="1">
                <a:solidFill>
                  <a:srgbClr val="FFFFFF"/>
                </a:solidFill>
              </a:defRPr>
            </a:pPr>
            <a:r>
              <a:t>FLOW STATE</a:t>
            </a:r>
          </a:p>
        </p:txBody>
      </p:sp>
      <p:sp>
        <p:nvSpPr>
          <p:cNvPr id="4" name="TextBox 3"/>
          <p:cNvSpPr txBox="1"/>
          <p:nvPr/>
        </p:nvSpPr>
        <p:spPr>
          <a:xfrm>
            <a:off x="1097280" y="2240280"/>
            <a:ext cx="9966960" cy="1188720"/>
          </a:xfrm>
          <a:prstGeom prst="rect">
            <a:avLst/>
          </a:prstGeom>
          <a:noFill/>
        </p:spPr>
        <p:txBody>
          <a:bodyPr wrap="none">
            <a:spAutoFit/>
          </a:bodyPr>
          <a:lstStyle/>
          <a:p>
            <a:pPr algn="ctr">
              <a:defRPr sz="2800">
                <a:solidFill>
                  <a:srgbClr val="FFFFFF"/>
                </a:solidFill>
              </a:defRPr>
            </a:pPr>
            <a:r>
              <a:t>From a 1-minute check-in</a:t>
            </a:r>
            <a:br/>
            <a:r>
              <a:t>to a smarter plan for your day.</a:t>
            </a:r>
          </a:p>
        </p:txBody>
      </p:sp>
      <p:sp>
        <p:nvSpPr>
          <p:cNvPr id="5" name="TextBox 4"/>
          <p:cNvSpPr txBox="1"/>
          <p:nvPr/>
        </p:nvSpPr>
        <p:spPr>
          <a:xfrm>
            <a:off x="1828800" y="4754880"/>
            <a:ext cx="8503920" cy="640080"/>
          </a:xfrm>
          <a:prstGeom prst="rect">
            <a:avLst/>
          </a:prstGeom>
          <a:noFill/>
        </p:spPr>
        <p:txBody>
          <a:bodyPr wrap="none">
            <a:spAutoFit/>
          </a:bodyPr>
          <a:lstStyle/>
          <a:p>
            <a:pPr algn="ctr">
              <a:defRPr sz="2500" b="1">
                <a:solidFill>
                  <a:srgbClr val="B4EBE4"/>
                </a:solidFill>
              </a:defRPr>
            </a:pPr>
            <a:r>
              <a:t>Questions?</a:t>
            </a:r>
          </a:p>
        </p:txBody>
      </p:sp>
      <p:sp>
        <p:nvSpPr>
          <p:cNvPr id="6" name="TextBox 5"/>
          <p:cNvSpPr txBox="1"/>
          <p:nvPr/>
        </p:nvSpPr>
        <p:spPr>
          <a:xfrm>
            <a:off x="11155680" y="6419088"/>
            <a:ext cx="457200" cy="228600"/>
          </a:xfrm>
          <a:prstGeom prst="rect">
            <a:avLst/>
          </a:prstGeom>
          <a:noFill/>
        </p:spPr>
        <p:txBody>
          <a:bodyPr wrap="none">
            <a:spAutoFit/>
          </a:bodyPr>
          <a:lstStyle/>
          <a:p>
            <a:pPr algn="r">
              <a:defRPr sz="900">
                <a:solidFill>
                  <a:srgbClr val="5B6C7D"/>
                </a:solidFill>
              </a:defRPr>
            </a:pPr>
            <a: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84048"/>
            <a:ext cx="10972800" cy="640080"/>
          </a:xfrm>
          <a:prstGeom prst="rect">
            <a:avLst/>
          </a:prstGeom>
          <a:noFill/>
        </p:spPr>
        <p:txBody>
          <a:bodyPr wrap="none">
            <a:spAutoFit/>
          </a:bodyPr>
          <a:lstStyle/>
          <a:p>
            <a:pPr>
              <a:defRPr sz="3000" b="1">
                <a:solidFill>
                  <a:srgbClr val="162337"/>
                </a:solidFill>
              </a:defRPr>
            </a:pPr>
            <a:r>
              <a:t>Why SDG 3?</a:t>
            </a:r>
          </a:p>
        </p:txBody>
      </p:sp>
      <p:sp>
        <p:nvSpPr>
          <p:cNvPr id="4" name="TextBox 3"/>
          <p:cNvSpPr txBox="1"/>
          <p:nvPr/>
        </p:nvSpPr>
        <p:spPr>
          <a:xfrm>
            <a:off x="658368" y="1024128"/>
            <a:ext cx="10607040" cy="411480"/>
          </a:xfrm>
          <a:prstGeom prst="rect">
            <a:avLst/>
          </a:prstGeom>
          <a:noFill/>
        </p:spPr>
        <p:txBody>
          <a:bodyPr wrap="none">
            <a:spAutoFit/>
          </a:bodyPr>
          <a:lstStyle/>
          <a:p>
            <a:pPr>
              <a:defRPr sz="1500">
                <a:solidFill>
                  <a:srgbClr val="5B6C7D"/>
                </a:solidFill>
              </a:defRPr>
            </a:pPr>
            <a:r>
              <a:t>Good Health &amp; Well-being — with a clear mental-health component</a:t>
            </a:r>
          </a:p>
        </p:txBody>
      </p:sp>
      <p:sp>
        <p:nvSpPr>
          <p:cNvPr id="5" name="Rounded Rectangle 4"/>
          <p:cNvSpPr/>
          <p:nvPr/>
        </p:nvSpPr>
        <p:spPr>
          <a:xfrm>
            <a:off x="731520" y="1600200"/>
            <a:ext cx="3383280" cy="3383280"/>
          </a:xfrm>
          <a:prstGeom prst="roundRect">
            <a:avLst/>
          </a:prstGeom>
          <a:solidFill>
            <a:srgbClr val="FFFFFF"/>
          </a:solidFill>
          <a:ln>
            <a:solidFill>
              <a:srgbClr val="DCE4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31520" y="1600200"/>
            <a:ext cx="73152" cy="3383280"/>
          </a:xfrm>
          <a:prstGeom prst="rect">
            <a:avLst/>
          </a:prstGeom>
          <a:solidFill>
            <a:srgbClr val="2C96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1764792"/>
            <a:ext cx="2971800" cy="411480"/>
          </a:xfrm>
          <a:prstGeom prst="rect">
            <a:avLst/>
          </a:prstGeom>
          <a:noFill/>
        </p:spPr>
        <p:txBody>
          <a:bodyPr wrap="none">
            <a:spAutoFit/>
          </a:bodyPr>
          <a:lstStyle/>
          <a:p>
            <a:pPr>
              <a:defRPr sz="1800" b="1">
                <a:solidFill>
                  <a:srgbClr val="162337"/>
                </a:solidFill>
              </a:defRPr>
            </a:pPr>
            <a:r>
              <a:t>Mental well-being</a:t>
            </a:r>
          </a:p>
        </p:txBody>
      </p:sp>
      <p:sp>
        <p:nvSpPr>
          <p:cNvPr id="8" name="TextBox 7"/>
          <p:cNvSpPr txBox="1"/>
          <p:nvPr/>
        </p:nvSpPr>
        <p:spPr>
          <a:xfrm>
            <a:off x="960120" y="2258568"/>
            <a:ext cx="2971800" cy="2606040"/>
          </a:xfrm>
          <a:prstGeom prst="rect">
            <a:avLst/>
          </a:prstGeom>
          <a:noFill/>
        </p:spPr>
        <p:txBody>
          <a:bodyPr wrap="square">
            <a:spAutoFit/>
          </a:bodyPr>
          <a:lstStyle/>
          <a:p>
            <a:pPr>
              <a:defRPr sz="1400">
                <a:solidFill>
                  <a:srgbClr val="5B6C7D"/>
                </a:solidFill>
              </a:defRPr>
            </a:pPr>
            <a:r>
              <a:t>Flow State asks users to reflect on mood, energy and mental load instead of focusing only on productivity.</a:t>
            </a:r>
          </a:p>
        </p:txBody>
      </p:sp>
      <p:sp>
        <p:nvSpPr>
          <p:cNvPr id="9" name="Rounded Rectangle 8"/>
          <p:cNvSpPr/>
          <p:nvPr/>
        </p:nvSpPr>
        <p:spPr>
          <a:xfrm>
            <a:off x="4389120" y="1600200"/>
            <a:ext cx="3383280" cy="3383280"/>
          </a:xfrm>
          <a:prstGeom prst="roundRect">
            <a:avLst/>
          </a:prstGeom>
          <a:solidFill>
            <a:srgbClr val="FFFFFF"/>
          </a:solidFill>
          <a:ln>
            <a:solidFill>
              <a:srgbClr val="DCE4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389120" y="1600200"/>
            <a:ext cx="73152" cy="3383280"/>
          </a:xfrm>
          <a:prstGeom prst="rect">
            <a:avLst/>
          </a:prstGeom>
          <a:solidFill>
            <a:srgbClr val="F191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617720" y="1764792"/>
            <a:ext cx="2971800" cy="411480"/>
          </a:xfrm>
          <a:prstGeom prst="rect">
            <a:avLst/>
          </a:prstGeom>
          <a:noFill/>
        </p:spPr>
        <p:txBody>
          <a:bodyPr wrap="none">
            <a:spAutoFit/>
          </a:bodyPr>
          <a:lstStyle/>
          <a:p>
            <a:pPr>
              <a:defRPr sz="1800" b="1">
                <a:solidFill>
                  <a:srgbClr val="162337"/>
                </a:solidFill>
              </a:defRPr>
            </a:pPr>
            <a:r>
              <a:t>Early awareness</a:t>
            </a:r>
          </a:p>
        </p:txBody>
      </p:sp>
      <p:sp>
        <p:nvSpPr>
          <p:cNvPr id="12" name="TextBox 11"/>
          <p:cNvSpPr txBox="1"/>
          <p:nvPr/>
        </p:nvSpPr>
        <p:spPr>
          <a:xfrm>
            <a:off x="4617720" y="2258568"/>
            <a:ext cx="2971800" cy="2606040"/>
          </a:xfrm>
          <a:prstGeom prst="rect">
            <a:avLst/>
          </a:prstGeom>
          <a:noFill/>
        </p:spPr>
        <p:txBody>
          <a:bodyPr wrap="square">
            <a:spAutoFit/>
          </a:bodyPr>
          <a:lstStyle/>
          <a:p>
            <a:pPr>
              <a:defRPr sz="1400">
                <a:solidFill>
                  <a:srgbClr val="5B6C7D"/>
                </a:solidFill>
              </a:defRPr>
            </a:pPr>
            <a:r>
              <a:t>Combining a daily check-in with workload can help users notice when they may need to slow down, recover or seek support.</a:t>
            </a:r>
          </a:p>
        </p:txBody>
      </p:sp>
      <p:sp>
        <p:nvSpPr>
          <p:cNvPr id="13" name="Rounded Rectangle 12"/>
          <p:cNvSpPr/>
          <p:nvPr/>
        </p:nvSpPr>
        <p:spPr>
          <a:xfrm>
            <a:off x="8046720" y="1600200"/>
            <a:ext cx="3383280" cy="3383280"/>
          </a:xfrm>
          <a:prstGeom prst="roundRect">
            <a:avLst/>
          </a:prstGeom>
          <a:solidFill>
            <a:srgbClr val="FFFFFF"/>
          </a:solidFill>
          <a:ln>
            <a:solidFill>
              <a:srgbClr val="DCE4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046720" y="1600200"/>
            <a:ext cx="73152" cy="3383280"/>
          </a:xfrm>
          <a:prstGeom prst="rect">
            <a:avLst/>
          </a:prstGeom>
          <a:solidFill>
            <a:srgbClr val="2C96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75320" y="1764792"/>
            <a:ext cx="2971800" cy="411480"/>
          </a:xfrm>
          <a:prstGeom prst="rect">
            <a:avLst/>
          </a:prstGeom>
          <a:noFill/>
        </p:spPr>
        <p:txBody>
          <a:bodyPr wrap="none">
            <a:spAutoFit/>
          </a:bodyPr>
          <a:lstStyle/>
          <a:p>
            <a:pPr>
              <a:defRPr sz="1800" b="1">
                <a:solidFill>
                  <a:srgbClr val="162337"/>
                </a:solidFill>
              </a:defRPr>
            </a:pPr>
            <a:r>
              <a:t>Practical support</a:t>
            </a:r>
          </a:p>
        </p:txBody>
      </p:sp>
      <p:sp>
        <p:nvSpPr>
          <p:cNvPr id="16" name="TextBox 15"/>
          <p:cNvSpPr txBox="1"/>
          <p:nvPr/>
        </p:nvSpPr>
        <p:spPr>
          <a:xfrm>
            <a:off x="8275320" y="2258568"/>
            <a:ext cx="2971800" cy="2606040"/>
          </a:xfrm>
          <a:prstGeom prst="rect">
            <a:avLst/>
          </a:prstGeom>
          <a:noFill/>
        </p:spPr>
        <p:txBody>
          <a:bodyPr wrap="square">
            <a:spAutoFit/>
          </a:bodyPr>
          <a:lstStyle/>
          <a:p>
            <a:pPr>
              <a:defRPr sz="1400">
                <a:solidFill>
                  <a:srgbClr val="5B6C7D"/>
                </a:solidFill>
              </a:defRPr>
            </a:pPr>
            <a:r>
              <a:t>The AI turns the check-in into simple suggestions for pacing, breaks and planning — without diagnosing the user.</a:t>
            </a:r>
          </a:p>
        </p:txBody>
      </p:sp>
      <p:sp>
        <p:nvSpPr>
          <p:cNvPr id="17" name="TextBox 16"/>
          <p:cNvSpPr txBox="1"/>
          <p:nvPr/>
        </p:nvSpPr>
        <p:spPr>
          <a:xfrm>
            <a:off x="1005840" y="5257800"/>
            <a:ext cx="10149840" cy="594360"/>
          </a:xfrm>
          <a:prstGeom prst="rect">
            <a:avLst/>
          </a:prstGeom>
          <a:noFill/>
        </p:spPr>
        <p:txBody>
          <a:bodyPr wrap="none">
            <a:spAutoFit/>
          </a:bodyPr>
          <a:lstStyle/>
          <a:p>
            <a:pPr algn="ctr">
              <a:defRPr sz="2000" b="1">
                <a:solidFill>
                  <a:srgbClr val="2C9691"/>
                </a:solidFill>
              </a:defRPr>
            </a:pPr>
            <a:r>
              <a:t>Flow State supports self-reflection and healthier day planning; it is not a medical tool.</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84048"/>
            <a:ext cx="10972800" cy="640080"/>
          </a:xfrm>
          <a:prstGeom prst="rect">
            <a:avLst/>
          </a:prstGeom>
          <a:noFill/>
        </p:spPr>
        <p:txBody>
          <a:bodyPr wrap="none">
            <a:spAutoFit/>
          </a:bodyPr>
          <a:lstStyle/>
          <a:p>
            <a:pPr>
              <a:defRPr sz="3000" b="1">
                <a:solidFill>
                  <a:srgbClr val="162337"/>
                </a:solidFill>
              </a:defRPr>
            </a:pPr>
            <a:r>
              <a:t>Ethical reflection</a:t>
            </a:r>
          </a:p>
        </p:txBody>
      </p:sp>
      <p:sp>
        <p:nvSpPr>
          <p:cNvPr id="4" name="TextBox 3"/>
          <p:cNvSpPr txBox="1"/>
          <p:nvPr/>
        </p:nvSpPr>
        <p:spPr>
          <a:xfrm>
            <a:off x="658368" y="1024128"/>
            <a:ext cx="10607040" cy="411480"/>
          </a:xfrm>
          <a:prstGeom prst="rect">
            <a:avLst/>
          </a:prstGeom>
          <a:noFill/>
        </p:spPr>
        <p:txBody>
          <a:bodyPr wrap="none">
            <a:spAutoFit/>
          </a:bodyPr>
          <a:lstStyle/>
          <a:p>
            <a:pPr>
              <a:defRPr sz="1500">
                <a:solidFill>
                  <a:srgbClr val="5B6C7D"/>
                </a:solidFill>
              </a:defRPr>
            </a:pPr>
            <a:r>
              <a:t>Health automation must have clear limits.</a:t>
            </a:r>
          </a:p>
        </p:txBody>
      </p:sp>
      <p:sp>
        <p:nvSpPr>
          <p:cNvPr id="5" name="Rounded Rectangle 4"/>
          <p:cNvSpPr/>
          <p:nvPr/>
        </p:nvSpPr>
        <p:spPr>
          <a:xfrm>
            <a:off x="640080" y="1417320"/>
            <a:ext cx="2651760" cy="3429000"/>
          </a:xfrm>
          <a:prstGeom prst="roundRect">
            <a:avLst/>
          </a:prstGeom>
          <a:solidFill>
            <a:srgbClr val="FFFFFF"/>
          </a:solidFill>
          <a:ln>
            <a:solidFill>
              <a:srgbClr val="DCE4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40080" y="1417320"/>
            <a:ext cx="73152" cy="3429000"/>
          </a:xfrm>
          <a:prstGeom prst="rect">
            <a:avLst/>
          </a:prstGeom>
          <a:solidFill>
            <a:srgbClr val="BC4B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581912"/>
            <a:ext cx="2240279" cy="411480"/>
          </a:xfrm>
          <a:prstGeom prst="rect">
            <a:avLst/>
          </a:prstGeom>
          <a:noFill/>
        </p:spPr>
        <p:txBody>
          <a:bodyPr wrap="none">
            <a:spAutoFit/>
          </a:bodyPr>
          <a:lstStyle/>
          <a:p>
            <a:pPr>
              <a:defRPr sz="1800" b="1">
                <a:solidFill>
                  <a:srgbClr val="162337"/>
                </a:solidFill>
              </a:defRPr>
            </a:pPr>
            <a:r>
              <a:t>If it is wrong</a:t>
            </a:r>
          </a:p>
        </p:txBody>
      </p:sp>
      <p:sp>
        <p:nvSpPr>
          <p:cNvPr id="8" name="TextBox 7"/>
          <p:cNvSpPr txBox="1"/>
          <p:nvPr/>
        </p:nvSpPr>
        <p:spPr>
          <a:xfrm>
            <a:off x="868680" y="2075688"/>
            <a:ext cx="2240279" cy="2651760"/>
          </a:xfrm>
          <a:prstGeom prst="rect">
            <a:avLst/>
          </a:prstGeom>
          <a:noFill/>
        </p:spPr>
        <p:txBody>
          <a:bodyPr wrap="square">
            <a:spAutoFit/>
          </a:bodyPr>
          <a:lstStyle/>
          <a:p>
            <a:pPr>
              <a:defRPr sz="1400">
                <a:solidFill>
                  <a:srgbClr val="5B6C7D"/>
                </a:solidFill>
              </a:defRPr>
            </a:pPr>
            <a:r>
              <a:t>AI can misread mood, sleep or workload and give unsuitable advice. Output should be framed as support, never as diagnosis.</a:t>
            </a:r>
          </a:p>
        </p:txBody>
      </p:sp>
      <p:sp>
        <p:nvSpPr>
          <p:cNvPr id="9" name="Rounded Rectangle 8"/>
          <p:cNvSpPr/>
          <p:nvPr/>
        </p:nvSpPr>
        <p:spPr>
          <a:xfrm>
            <a:off x="3429000" y="1417320"/>
            <a:ext cx="2651760" cy="3429000"/>
          </a:xfrm>
          <a:prstGeom prst="roundRect">
            <a:avLst/>
          </a:prstGeom>
          <a:solidFill>
            <a:srgbClr val="FFFFFF"/>
          </a:solidFill>
          <a:ln>
            <a:solidFill>
              <a:srgbClr val="DCE4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3429000" y="1417320"/>
            <a:ext cx="73152" cy="3429000"/>
          </a:xfrm>
          <a:prstGeom prst="rect">
            <a:avLst/>
          </a:prstGeom>
          <a:solidFill>
            <a:srgbClr val="F191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657600" y="1581912"/>
            <a:ext cx="2240279" cy="411480"/>
          </a:xfrm>
          <a:prstGeom prst="rect">
            <a:avLst/>
          </a:prstGeom>
          <a:noFill/>
        </p:spPr>
        <p:txBody>
          <a:bodyPr wrap="none">
            <a:spAutoFit/>
          </a:bodyPr>
          <a:lstStyle/>
          <a:p>
            <a:pPr>
              <a:defRPr sz="1800" b="1">
                <a:solidFill>
                  <a:srgbClr val="162337"/>
                </a:solidFill>
              </a:defRPr>
            </a:pPr>
            <a:r>
              <a:t>If it is late or down</a:t>
            </a:r>
          </a:p>
        </p:txBody>
      </p:sp>
      <p:sp>
        <p:nvSpPr>
          <p:cNvPr id="12" name="TextBox 11"/>
          <p:cNvSpPr txBox="1"/>
          <p:nvPr/>
        </p:nvSpPr>
        <p:spPr>
          <a:xfrm>
            <a:off x="3657600" y="2075688"/>
            <a:ext cx="2240279" cy="2651760"/>
          </a:xfrm>
          <a:prstGeom prst="rect">
            <a:avLst/>
          </a:prstGeom>
          <a:noFill/>
        </p:spPr>
        <p:txBody>
          <a:bodyPr wrap="square">
            <a:spAutoFit/>
          </a:bodyPr>
          <a:lstStyle/>
          <a:p>
            <a:pPr>
              <a:defRPr sz="1400">
                <a:solidFill>
                  <a:srgbClr val="5B6C7D"/>
                </a:solidFill>
              </a:defRPr>
            </a:pPr>
            <a:r>
              <a:t>n8n, Gmail, Calendar or the AI service can fail. Flow State must never be relied on for urgent or safety-critical help.</a:t>
            </a:r>
          </a:p>
        </p:txBody>
      </p:sp>
      <p:sp>
        <p:nvSpPr>
          <p:cNvPr id="13" name="Rounded Rectangle 12"/>
          <p:cNvSpPr/>
          <p:nvPr/>
        </p:nvSpPr>
        <p:spPr>
          <a:xfrm>
            <a:off x="6217920" y="1417320"/>
            <a:ext cx="2651760" cy="3429000"/>
          </a:xfrm>
          <a:prstGeom prst="roundRect">
            <a:avLst/>
          </a:prstGeom>
          <a:solidFill>
            <a:srgbClr val="FFFFFF"/>
          </a:solidFill>
          <a:ln>
            <a:solidFill>
              <a:srgbClr val="DCE4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217920" y="1417320"/>
            <a:ext cx="73152" cy="3429000"/>
          </a:xfrm>
          <a:prstGeom prst="rect">
            <a:avLst/>
          </a:prstGeom>
          <a:solidFill>
            <a:srgbClr val="2C96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46520" y="1581912"/>
            <a:ext cx="2240279" cy="411480"/>
          </a:xfrm>
          <a:prstGeom prst="rect">
            <a:avLst/>
          </a:prstGeom>
          <a:noFill/>
        </p:spPr>
        <p:txBody>
          <a:bodyPr wrap="none">
            <a:spAutoFit/>
          </a:bodyPr>
          <a:lstStyle/>
          <a:p>
            <a:pPr>
              <a:defRPr sz="1800" b="1">
                <a:solidFill>
                  <a:srgbClr val="162337"/>
                </a:solidFill>
              </a:defRPr>
            </a:pPr>
            <a:r>
              <a:t>Where AI stops</a:t>
            </a:r>
          </a:p>
        </p:txBody>
      </p:sp>
      <p:sp>
        <p:nvSpPr>
          <p:cNvPr id="16" name="TextBox 15"/>
          <p:cNvSpPr txBox="1"/>
          <p:nvPr/>
        </p:nvSpPr>
        <p:spPr>
          <a:xfrm>
            <a:off x="6446520" y="2075688"/>
            <a:ext cx="2240279" cy="2651760"/>
          </a:xfrm>
          <a:prstGeom prst="rect">
            <a:avLst/>
          </a:prstGeom>
          <a:noFill/>
        </p:spPr>
        <p:txBody>
          <a:bodyPr wrap="square">
            <a:spAutoFit/>
          </a:bodyPr>
          <a:lstStyle/>
          <a:p>
            <a:pPr>
              <a:defRPr sz="1400">
                <a:solidFill>
                  <a:srgbClr val="5B6C7D"/>
                </a:solidFill>
              </a:defRPr>
            </a:pPr>
            <a:r>
              <a:t>Persistent or serious mental-health concerns require human judgement and, where appropriate, professional support.</a:t>
            </a:r>
          </a:p>
        </p:txBody>
      </p:sp>
      <p:sp>
        <p:nvSpPr>
          <p:cNvPr id="17" name="Rounded Rectangle 16"/>
          <p:cNvSpPr/>
          <p:nvPr/>
        </p:nvSpPr>
        <p:spPr>
          <a:xfrm>
            <a:off x="9006840" y="1417320"/>
            <a:ext cx="2560320" cy="3429000"/>
          </a:xfrm>
          <a:prstGeom prst="roundRect">
            <a:avLst/>
          </a:prstGeom>
          <a:solidFill>
            <a:srgbClr val="FFFFFF"/>
          </a:solidFill>
          <a:ln>
            <a:solidFill>
              <a:srgbClr val="DCE4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9006840" y="1417320"/>
            <a:ext cx="73152" cy="3429000"/>
          </a:xfrm>
          <a:prstGeom prst="rect">
            <a:avLst/>
          </a:prstGeom>
          <a:solidFill>
            <a:srgbClr val="2C96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235440" y="1581912"/>
            <a:ext cx="2148839" cy="411480"/>
          </a:xfrm>
          <a:prstGeom prst="rect">
            <a:avLst/>
          </a:prstGeom>
          <a:noFill/>
        </p:spPr>
        <p:txBody>
          <a:bodyPr wrap="none">
            <a:spAutoFit/>
          </a:bodyPr>
          <a:lstStyle/>
          <a:p>
            <a:pPr>
              <a:defRPr sz="1800" b="1">
                <a:solidFill>
                  <a:srgbClr val="162337"/>
                </a:solidFill>
              </a:defRPr>
            </a:pPr>
            <a:r>
              <a:t>Privacy &amp; trust</a:t>
            </a:r>
          </a:p>
        </p:txBody>
      </p:sp>
      <p:sp>
        <p:nvSpPr>
          <p:cNvPr id="20" name="TextBox 19"/>
          <p:cNvSpPr txBox="1"/>
          <p:nvPr/>
        </p:nvSpPr>
        <p:spPr>
          <a:xfrm>
            <a:off x="9235440" y="2075688"/>
            <a:ext cx="2148839" cy="2651760"/>
          </a:xfrm>
          <a:prstGeom prst="rect">
            <a:avLst/>
          </a:prstGeom>
          <a:noFill/>
        </p:spPr>
        <p:txBody>
          <a:bodyPr wrap="square">
            <a:spAutoFit/>
          </a:bodyPr>
          <a:lstStyle/>
          <a:p>
            <a:pPr>
              <a:defRPr sz="1400">
                <a:solidFill>
                  <a:srgbClr val="5B6C7D"/>
                </a:solidFill>
              </a:defRPr>
            </a:pPr>
            <a:r>
              <a:t>Sleep, mood, notes and calendar data are personal. Users should know what is accessed and retain control over their data.</a:t>
            </a:r>
          </a:p>
        </p:txBody>
      </p:sp>
      <p:sp>
        <p:nvSpPr>
          <p:cNvPr id="21" name="TextBox 20"/>
          <p:cNvSpPr txBox="1"/>
          <p:nvPr/>
        </p:nvSpPr>
        <p:spPr>
          <a:xfrm>
            <a:off x="914400" y="5166360"/>
            <a:ext cx="10332720" cy="868680"/>
          </a:xfrm>
          <a:prstGeom prst="rect">
            <a:avLst/>
          </a:prstGeom>
          <a:noFill/>
        </p:spPr>
        <p:txBody>
          <a:bodyPr wrap="none">
            <a:spAutoFit/>
          </a:bodyPr>
          <a:lstStyle/>
          <a:p>
            <a:pPr algn="ctr">
              <a:defRPr sz="1900" b="1">
                <a:solidFill>
                  <a:srgbClr val="162337"/>
                </a:solidFill>
              </a:defRPr>
            </a:pPr>
            <a:r>
              <a:t>Would we trust it?  Yes — as a self-reflection and planning assistant.  No — as a replacement for a doctor, psychologist or emergency service.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