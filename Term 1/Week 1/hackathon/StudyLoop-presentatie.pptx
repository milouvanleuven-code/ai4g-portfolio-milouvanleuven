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7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2E"/>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28090">
              <a:alpha val="45000"/>
            </a:srgbClr>
          </a:solidFill>
          <a:ln/>
        </p:spPr>
        <p:txBody>
          <a:bodyPr/>
          <a:lstStyle/>
          <a:p>
            <a:endParaRPr lang="nl-NL"/>
          </a:p>
        </p:txBody>
      </p:sp>
      <p:sp>
        <p:nvSpPr>
          <p:cNvPr id="3" name="Shape 1"/>
          <p:cNvSpPr/>
          <p:nvPr/>
        </p:nvSpPr>
        <p:spPr>
          <a:xfrm>
            <a:off x="10241280" y="3474720"/>
            <a:ext cx="3657600" cy="3657600"/>
          </a:xfrm>
          <a:prstGeom prst="ellipse">
            <a:avLst/>
          </a:prstGeom>
          <a:solidFill>
            <a:srgbClr val="02C39A">
              <a:alpha val="35000"/>
            </a:srgbClr>
          </a:solidFill>
          <a:ln/>
        </p:spPr>
        <p:txBody>
          <a:bodyPr/>
          <a:lstStyle/>
          <a:p>
            <a:endParaRPr lang="nl-NL"/>
          </a:p>
        </p:txBody>
      </p:sp>
      <p:sp>
        <p:nvSpPr>
          <p:cNvPr id="4" name="Text 2"/>
          <p:cNvSpPr txBox="1"/>
          <p:nvPr/>
        </p:nvSpPr>
        <p:spPr>
          <a:xfrm>
            <a:off x="640080" y="2103120"/>
            <a:ext cx="8229600" cy="1188720"/>
          </a:xfrm>
          <a:prstGeom prst="rect">
            <a:avLst/>
          </a:prstGeom>
          <a:noFill/>
          <a:ln/>
        </p:spPr>
        <p:txBody>
          <a:bodyPr wrap="square" lIns="0" tIns="0" rIns="0" bIns="0" rtlCol="0" anchor="ctr"/>
          <a:lstStyle/>
          <a:p>
            <a:pPr marL="0" indent="0">
              <a:buNone/>
            </a:pPr>
            <a:r>
              <a:rPr lang="en-US" sz="5400" b="1" dirty="0">
                <a:solidFill>
                  <a:srgbClr val="F4FAF9"/>
                </a:solidFill>
                <a:latin typeface="Cambria" pitchFamily="34" charset="0"/>
                <a:ea typeface="Cambria" pitchFamily="34" charset="-122"/>
                <a:cs typeface="Cambria" pitchFamily="34" charset="-120"/>
              </a:rPr>
              <a:t>StudyLoop</a:t>
            </a:r>
            <a:endParaRPr lang="en-US" sz="5400" dirty="0"/>
          </a:p>
        </p:txBody>
      </p:sp>
      <p:sp>
        <p:nvSpPr>
          <p:cNvPr id="5" name="Text 3"/>
          <p:cNvSpPr txBox="1"/>
          <p:nvPr/>
        </p:nvSpPr>
        <p:spPr>
          <a:xfrm>
            <a:off x="685800" y="3200400"/>
            <a:ext cx="7772400" cy="640080"/>
          </a:xfrm>
          <a:prstGeom prst="rect">
            <a:avLst/>
          </a:prstGeom>
          <a:noFill/>
          <a:ln/>
        </p:spPr>
        <p:txBody>
          <a:bodyPr wrap="square" lIns="0" tIns="0" rIns="0" bIns="0" rtlCol="0" anchor="ctr"/>
          <a:lstStyle/>
          <a:p>
            <a:pPr marL="0" indent="0">
              <a:buNone/>
            </a:pPr>
            <a:r>
              <a:rPr lang="en-US" sz="1800" dirty="0">
                <a:solidFill>
                  <a:srgbClr val="BFE3DF"/>
                </a:solidFill>
                <a:latin typeface="Calibri" pitchFamily="34" charset="0"/>
                <a:ea typeface="Calibri" pitchFamily="34" charset="-122"/>
                <a:cs typeface="Calibri" pitchFamily="34" charset="-120"/>
              </a:rPr>
              <a:t>A spaced-repetition flashcard app that helps students actually retain what they study</a:t>
            </a:r>
            <a:endParaRPr lang="en-US" sz="1800" dirty="0"/>
          </a:p>
        </p:txBody>
      </p:sp>
      <p:sp>
        <p:nvSpPr>
          <p:cNvPr id="6" name="Shape 4"/>
          <p:cNvSpPr/>
          <p:nvPr/>
        </p:nvSpPr>
        <p:spPr>
          <a:xfrm>
            <a:off x="685800" y="4114800"/>
            <a:ext cx="2834640" cy="502920"/>
          </a:xfrm>
          <a:prstGeom prst="roundRect">
            <a:avLst>
              <a:gd name="adj" fmla="val 50909"/>
            </a:avLst>
          </a:prstGeom>
          <a:solidFill>
            <a:srgbClr val="00A896"/>
          </a:solidFill>
          <a:ln/>
        </p:spPr>
        <p:txBody>
          <a:bodyPr/>
          <a:lstStyle/>
          <a:p>
            <a:endParaRPr lang="nl-NL"/>
          </a:p>
        </p:txBody>
      </p:sp>
      <p:sp>
        <p:nvSpPr>
          <p:cNvPr id="7" name="Text 5"/>
          <p:cNvSpPr txBox="1"/>
          <p:nvPr/>
        </p:nvSpPr>
        <p:spPr>
          <a:xfrm>
            <a:off x="685800" y="4114800"/>
            <a:ext cx="2834640" cy="502920"/>
          </a:xfrm>
          <a:prstGeom prst="rect">
            <a:avLst/>
          </a:prstGeom>
          <a:noFill/>
          <a:ln/>
        </p:spPr>
        <p:txBody>
          <a:bodyPr wrap="square" lIns="0" tIns="0" rIns="0" bIns="0" rtlCol="0" anchor="ctr"/>
          <a:lstStyle/>
          <a:p>
            <a:pPr marL="0" indent="0" algn="ctr">
              <a:buNone/>
            </a:pPr>
            <a:r>
              <a:rPr lang="en-US" sz="1300" b="1" dirty="0">
                <a:solidFill>
                  <a:srgbClr val="0B2B2E"/>
                </a:solidFill>
                <a:latin typeface="Calibri" pitchFamily="34" charset="0"/>
                <a:ea typeface="Calibri" pitchFamily="34" charset="-122"/>
                <a:cs typeface="Calibri" pitchFamily="34" charset="-120"/>
              </a:rPr>
              <a:t>SDG 4 · Quality Education</a:t>
            </a:r>
            <a:endParaRPr lang="en-US" sz="1300" dirty="0"/>
          </a:p>
        </p:txBody>
      </p:sp>
      <p:sp>
        <p:nvSpPr>
          <p:cNvPr id="8" name="Text 6"/>
          <p:cNvSpPr txBox="1"/>
          <p:nvPr/>
        </p:nvSpPr>
        <p:spPr>
          <a:xfrm>
            <a:off x="685800" y="6035040"/>
            <a:ext cx="7315200" cy="365760"/>
          </a:xfrm>
          <a:prstGeom prst="rect">
            <a:avLst/>
          </a:prstGeom>
          <a:noFill/>
          <a:ln/>
        </p:spPr>
        <p:txBody>
          <a:bodyPr wrap="square" lIns="0" tIns="0" rIns="0" bIns="0" rtlCol="0" anchor="ctr"/>
          <a:lstStyle/>
          <a:p>
            <a:pPr marL="0" indent="0">
              <a:buNone/>
            </a:pPr>
            <a:r>
              <a:rPr lang="en-US" sz="1300" dirty="0">
                <a:solidFill>
                  <a:srgbClr val="9FC9C4"/>
                </a:solidFill>
                <a:latin typeface="Calibri" pitchFamily="34" charset="0"/>
                <a:ea typeface="Calibri" pitchFamily="34" charset="-122"/>
                <a:cs typeface="Calibri" pitchFamily="34" charset="-120"/>
              </a:rPr>
              <a:t>Built with Lovable  ·  Murat Orhan &amp; Milou van Leuven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marL="0" indent="0">
              <a:buNone/>
            </a:pPr>
            <a:r>
              <a:rPr lang="en-US" sz="3200" b="1" dirty="0">
                <a:solidFill>
                  <a:srgbClr val="16302F"/>
                </a:solidFill>
                <a:latin typeface="Cambria" pitchFamily="34" charset="0"/>
                <a:ea typeface="Cambria" pitchFamily="34" charset="-122"/>
                <a:cs typeface="Cambria" pitchFamily="34" charset="-120"/>
              </a:rPr>
              <a:t>The problem</a:t>
            </a:r>
            <a:endParaRPr lang="en-US" sz="3200" dirty="0"/>
          </a:p>
        </p:txBody>
      </p:sp>
      <p:sp>
        <p:nvSpPr>
          <p:cNvPr id="3" name="Shape 1"/>
          <p:cNvSpPr/>
          <p:nvPr/>
        </p:nvSpPr>
        <p:spPr>
          <a:xfrm>
            <a:off x="548640" y="1371600"/>
            <a:ext cx="6035040" cy="4754880"/>
          </a:xfrm>
          <a:prstGeom prst="roundRect">
            <a:avLst>
              <a:gd name="adj" fmla="val 2308"/>
            </a:avLst>
          </a:prstGeom>
          <a:solidFill>
            <a:srgbClr val="FFFFFF"/>
          </a:solidFill>
          <a:ln/>
          <a:effectLst>
            <a:outerShdw blurRad="101600" dist="38100" dir="5400000" algn="bl" rotWithShape="0">
              <a:srgbClr val="1B3A38">
                <a:alpha val="15000"/>
              </a:srgbClr>
            </a:outerShdw>
          </a:effectLst>
        </p:spPr>
        <p:txBody>
          <a:bodyPr/>
          <a:lstStyle/>
          <a:p>
            <a:endParaRPr lang="nl-NL"/>
          </a:p>
        </p:txBody>
      </p:sp>
      <p:sp>
        <p:nvSpPr>
          <p:cNvPr id="4" name="Shape 2"/>
          <p:cNvSpPr/>
          <p:nvPr/>
        </p:nvSpPr>
        <p:spPr>
          <a:xfrm>
            <a:off x="914400" y="1737360"/>
            <a:ext cx="640080" cy="640080"/>
          </a:xfrm>
          <a:prstGeom prst="ellipse">
            <a:avLst/>
          </a:prstGeom>
          <a:solidFill>
            <a:srgbClr val="E6F5F3"/>
          </a:solidFill>
          <a:ln/>
        </p:spPr>
        <p:txBody>
          <a:bodyPr/>
          <a:lstStyle/>
          <a:p>
            <a:endParaRPr lang="nl-NL"/>
          </a:p>
        </p:txBody>
      </p:sp>
      <p:sp>
        <p:nvSpPr>
          <p:cNvPr id="5" name="Text 3"/>
          <p:cNvSpPr txBox="1"/>
          <p:nvPr/>
        </p:nvSpPr>
        <p:spPr>
          <a:xfrm>
            <a:off x="914400" y="1737360"/>
            <a:ext cx="640080" cy="640080"/>
          </a:xfrm>
          <a:prstGeom prst="rect">
            <a:avLst/>
          </a:prstGeom>
          <a:noFill/>
          <a:ln/>
        </p:spPr>
        <p:txBody>
          <a:bodyPr wrap="square" lIns="0" tIns="0" rIns="0" bIns="0" rtlCol="0" anchor="ctr"/>
          <a:lstStyle/>
          <a:p>
            <a:pPr marL="0" indent="0" algn="ctr">
              <a:buNone/>
            </a:pPr>
            <a:r>
              <a:rPr lang="en-US" sz="1960" dirty="0">
                <a:solidFill>
                  <a:srgbClr val="028090"/>
                </a:solidFill>
                <a:latin typeface="Arial" pitchFamily="34" charset="0"/>
                <a:ea typeface="Arial" pitchFamily="34" charset="-122"/>
                <a:cs typeface="Arial" pitchFamily="34" charset="-120"/>
              </a:rPr>
              <a:t>🎓</a:t>
            </a:r>
            <a:endParaRPr lang="en-US" sz="1960" dirty="0"/>
          </a:p>
        </p:txBody>
      </p:sp>
      <p:sp>
        <p:nvSpPr>
          <p:cNvPr id="6" name="Text 4"/>
          <p:cNvSpPr txBox="1"/>
          <p:nvPr/>
        </p:nvSpPr>
        <p:spPr>
          <a:xfrm>
            <a:off x="1737360" y="1783080"/>
            <a:ext cx="4572000" cy="457200"/>
          </a:xfrm>
          <a:prstGeom prst="rect">
            <a:avLst/>
          </a:prstGeom>
          <a:noFill/>
          <a:ln/>
        </p:spPr>
        <p:txBody>
          <a:bodyPr wrap="square" lIns="0" tIns="0" rIns="0" bIns="0" rtlCol="0" anchor="ctr"/>
          <a:lstStyle/>
          <a:p>
            <a:pPr marL="0" indent="0">
              <a:buNone/>
            </a:pPr>
            <a:r>
              <a:rPr lang="en-US" sz="1600" b="1" dirty="0">
                <a:solidFill>
                  <a:srgbClr val="16302F"/>
                </a:solidFill>
                <a:latin typeface="Calibri" pitchFamily="34" charset="0"/>
                <a:ea typeface="Calibri" pitchFamily="34" charset="-122"/>
                <a:cs typeface="Calibri" pitchFamily="34" charset="-120"/>
              </a:rPr>
              <a:t>A real student, a real problem</a:t>
            </a:r>
            <a:endParaRPr lang="en-US" sz="1600" dirty="0"/>
          </a:p>
        </p:txBody>
      </p:sp>
      <p:sp>
        <p:nvSpPr>
          <p:cNvPr id="7" name="Text 5"/>
          <p:cNvSpPr txBox="1"/>
          <p:nvPr/>
        </p:nvSpPr>
        <p:spPr>
          <a:xfrm>
            <a:off x="914400" y="2468880"/>
            <a:ext cx="5394960" cy="1371600"/>
          </a:xfrm>
          <a:prstGeom prst="rect">
            <a:avLst/>
          </a:prstGeom>
          <a:noFill/>
          <a:ln/>
        </p:spPr>
        <p:txBody>
          <a:bodyPr wrap="square" lIns="0" tIns="0" rIns="0" bIns="0" rtlCol="0" anchor="ctr"/>
          <a:lstStyle/>
          <a:p>
            <a:pPr marL="0" indent="0">
              <a:lnSpc>
                <a:spcPct val="125000"/>
              </a:lnSpc>
              <a:buNone/>
            </a:pPr>
            <a:r>
              <a:rPr lang="en-US" sz="1400" dirty="0">
                <a:solidFill>
                  <a:srgbClr val="5C7A76"/>
                </a:solidFill>
                <a:latin typeface="Calibri" pitchFamily="34" charset="0"/>
                <a:ea typeface="Calibri" pitchFamily="34" charset="-122"/>
                <a:cs typeface="Calibri" pitchFamily="34" charset="-120"/>
              </a:rPr>
              <a:t>A 2nd-year Biology student has 20 terms to know cold for next week's exam. She keeps re-reading the same notes end to end, spending just as much time on terms she already knows as the ones, she keeps getting wrong.</a:t>
            </a:r>
            <a:endParaRPr lang="en-US" sz="1400" dirty="0"/>
          </a:p>
        </p:txBody>
      </p:sp>
      <p:sp>
        <p:nvSpPr>
          <p:cNvPr id="8" name="Shape 6"/>
          <p:cNvSpPr/>
          <p:nvPr/>
        </p:nvSpPr>
        <p:spPr>
          <a:xfrm>
            <a:off x="914400" y="3977640"/>
            <a:ext cx="5394960" cy="0"/>
          </a:xfrm>
          <a:prstGeom prst="line">
            <a:avLst/>
          </a:prstGeom>
          <a:noFill/>
          <a:ln w="12700">
            <a:solidFill>
              <a:srgbClr val="DCEEEC"/>
            </a:solidFill>
            <a:prstDash val="solid"/>
          </a:ln>
        </p:spPr>
        <p:txBody>
          <a:bodyPr/>
          <a:lstStyle/>
          <a:p>
            <a:endParaRPr lang="nl-NL"/>
          </a:p>
        </p:txBody>
      </p:sp>
      <p:sp>
        <p:nvSpPr>
          <p:cNvPr id="9" name="Text 7"/>
          <p:cNvSpPr txBox="1"/>
          <p:nvPr/>
        </p:nvSpPr>
        <p:spPr>
          <a:xfrm>
            <a:off x="914400" y="4160520"/>
            <a:ext cx="5394960" cy="365760"/>
          </a:xfrm>
          <a:prstGeom prst="rect">
            <a:avLst/>
          </a:prstGeom>
          <a:noFill/>
          <a:ln/>
        </p:spPr>
        <p:txBody>
          <a:bodyPr wrap="square" lIns="0" tIns="0" rIns="0" bIns="0"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Why this matters for Quality Education</a:t>
            </a:r>
            <a:endParaRPr lang="en-US" sz="1400" dirty="0"/>
          </a:p>
        </p:txBody>
      </p:sp>
      <p:sp>
        <p:nvSpPr>
          <p:cNvPr id="10" name="Text 8"/>
          <p:cNvSpPr txBox="1"/>
          <p:nvPr/>
        </p:nvSpPr>
        <p:spPr>
          <a:xfrm>
            <a:off x="914400" y="4572000"/>
            <a:ext cx="5394960" cy="1280160"/>
          </a:xfrm>
          <a:prstGeom prst="rect">
            <a:avLst/>
          </a:prstGeom>
          <a:noFill/>
          <a:ln/>
        </p:spPr>
        <p:txBody>
          <a:bodyPr wrap="square" lIns="0" tIns="0" rIns="0" bIns="0" rtlCol="0" anchor="ctr"/>
          <a:lstStyle/>
          <a:p>
            <a:pPr marL="0" indent="0">
              <a:lnSpc>
                <a:spcPct val="125000"/>
              </a:lnSpc>
              <a:buNone/>
            </a:pPr>
            <a:r>
              <a:rPr lang="en-US" sz="1400" dirty="0">
                <a:solidFill>
                  <a:srgbClr val="5C7A76"/>
                </a:solidFill>
                <a:latin typeface="Calibri" pitchFamily="34" charset="0"/>
                <a:ea typeface="Calibri" pitchFamily="34" charset="-122"/>
                <a:cs typeface="Calibri" pitchFamily="34" charset="-120"/>
              </a:rPr>
              <a:t>Effective study methods like spaced repetition are proven to work, but they're mostly used by a small group of students who already know the trick. Making that method effortless and free is what makes it inclusive.</a:t>
            </a:r>
            <a:endParaRPr lang="en-US" sz="1400" dirty="0"/>
          </a:p>
        </p:txBody>
      </p:sp>
      <p:sp>
        <p:nvSpPr>
          <p:cNvPr id="11" name="Shape 9"/>
          <p:cNvSpPr/>
          <p:nvPr/>
        </p:nvSpPr>
        <p:spPr>
          <a:xfrm>
            <a:off x="6949440" y="1371600"/>
            <a:ext cx="4663440" cy="2194560"/>
          </a:xfrm>
          <a:prstGeom prst="roundRect">
            <a:avLst>
              <a:gd name="adj" fmla="val 5000"/>
            </a:avLst>
          </a:prstGeom>
          <a:solidFill>
            <a:srgbClr val="028090"/>
          </a:solidFill>
          <a:ln/>
        </p:spPr>
        <p:txBody>
          <a:bodyPr/>
          <a:lstStyle/>
          <a:p>
            <a:endParaRPr lang="nl-NL"/>
          </a:p>
        </p:txBody>
      </p:sp>
      <p:sp>
        <p:nvSpPr>
          <p:cNvPr id="12" name="Text 10"/>
          <p:cNvSpPr txBox="1"/>
          <p:nvPr/>
        </p:nvSpPr>
        <p:spPr>
          <a:xfrm>
            <a:off x="7132320" y="1508760"/>
            <a:ext cx="2011680"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40</a:t>
            </a:r>
            <a:endParaRPr lang="en-US" sz="5400" dirty="0"/>
          </a:p>
        </p:txBody>
      </p:sp>
      <p:sp>
        <p:nvSpPr>
          <p:cNvPr id="13" name="Text 11"/>
          <p:cNvSpPr txBox="1"/>
          <p:nvPr/>
        </p:nvSpPr>
        <p:spPr>
          <a:xfrm>
            <a:off x="7132320" y="2514600"/>
            <a:ext cx="4114800" cy="822960"/>
          </a:xfrm>
          <a:prstGeom prst="rect">
            <a:avLst/>
          </a:prstGeom>
          <a:noFill/>
          <a:ln/>
        </p:spPr>
        <p:txBody>
          <a:bodyPr wrap="square" lIns="0" tIns="0" rIns="0" bIns="0" rtlCol="0" anchor="ctr"/>
          <a:lstStyle/>
          <a:p>
            <a:pPr marL="0" indent="0">
              <a:lnSpc>
                <a:spcPct val="120000"/>
              </a:lnSpc>
              <a:buNone/>
            </a:pPr>
            <a:r>
              <a:rPr lang="en-US" sz="1400" dirty="0">
                <a:solidFill>
                  <a:srgbClr val="D8F1EE"/>
                </a:solidFill>
                <a:latin typeface="Calibri" pitchFamily="34" charset="0"/>
                <a:ea typeface="Calibri" pitchFamily="34" charset="-122"/>
                <a:cs typeface="Calibri" pitchFamily="34" charset="-120"/>
              </a:rPr>
              <a:t>terms to memorize</a:t>
            </a:r>
            <a:endParaRPr lang="en-US" sz="1400" dirty="0"/>
          </a:p>
          <a:p>
            <a:pPr marL="0" indent="0">
              <a:lnSpc>
                <a:spcPct val="120000"/>
              </a:lnSpc>
              <a:buNone/>
            </a:pPr>
            <a:r>
              <a:rPr lang="en-US" sz="1400" dirty="0">
                <a:solidFill>
                  <a:srgbClr val="D8F1EE"/>
                </a:solidFill>
                <a:latin typeface="Calibri" pitchFamily="34" charset="0"/>
                <a:ea typeface="Calibri" pitchFamily="34" charset="-122"/>
                <a:cs typeface="Calibri" pitchFamily="34" charset="-120"/>
              </a:rPr>
              <a:t>before one exam</a:t>
            </a:r>
            <a:endParaRPr lang="en-US" sz="1400" dirty="0"/>
          </a:p>
        </p:txBody>
      </p:sp>
      <p:sp>
        <p:nvSpPr>
          <p:cNvPr id="14" name="Shape 12"/>
          <p:cNvSpPr/>
          <p:nvPr/>
        </p:nvSpPr>
        <p:spPr>
          <a:xfrm>
            <a:off x="6949440" y="3749040"/>
            <a:ext cx="4663440" cy="2377440"/>
          </a:xfrm>
          <a:prstGeom prst="roundRect">
            <a:avLst>
              <a:gd name="adj" fmla="val 4615"/>
            </a:avLst>
          </a:prstGeom>
          <a:solidFill>
            <a:srgbClr val="FFFFFF"/>
          </a:solidFill>
          <a:ln w="12700">
            <a:solidFill>
              <a:srgbClr val="DCEEEC"/>
            </a:solidFill>
            <a:prstDash val="solid"/>
          </a:ln>
        </p:spPr>
        <p:txBody>
          <a:bodyPr/>
          <a:lstStyle/>
          <a:p>
            <a:endParaRPr lang="nl-NL"/>
          </a:p>
        </p:txBody>
      </p:sp>
      <p:sp>
        <p:nvSpPr>
          <p:cNvPr id="15" name="Text 13"/>
          <p:cNvSpPr txBox="1"/>
          <p:nvPr/>
        </p:nvSpPr>
        <p:spPr>
          <a:xfrm>
            <a:off x="7223760" y="3977640"/>
            <a:ext cx="4206240" cy="1920240"/>
          </a:xfrm>
          <a:prstGeom prst="rect">
            <a:avLst/>
          </a:prstGeom>
          <a:noFill/>
          <a:ln/>
        </p:spPr>
        <p:txBody>
          <a:bodyPr wrap="square" lIns="0" tIns="0" rIns="0" bIns="0" rtlCol="0" anchor="ctr"/>
          <a:lstStyle/>
          <a:p>
            <a:pPr marL="0" indent="0">
              <a:lnSpc>
                <a:spcPct val="130000"/>
              </a:lnSpc>
              <a:buNone/>
            </a:pPr>
            <a:r>
              <a:rPr lang="en-US" sz="1700" i="1" dirty="0">
                <a:solidFill>
                  <a:srgbClr val="16302F"/>
                </a:solidFill>
                <a:latin typeface="Cambria" pitchFamily="34" charset="0"/>
                <a:ea typeface="Cambria" pitchFamily="34" charset="-122"/>
                <a:cs typeface="Cambria" pitchFamily="34" charset="-120"/>
              </a:rPr>
              <a:t>The real issue isn't lack of willpower,</a:t>
            </a:r>
            <a:endParaRPr lang="en-US" sz="1700" dirty="0"/>
          </a:p>
          <a:p>
            <a:pPr marL="0" indent="0">
              <a:lnSpc>
                <a:spcPct val="130000"/>
              </a:lnSpc>
              <a:buNone/>
            </a:pPr>
            <a:r>
              <a:rPr lang="en-US" sz="1700" i="1" dirty="0">
                <a:solidFill>
                  <a:srgbClr val="16302F"/>
                </a:solidFill>
                <a:latin typeface="Cambria" pitchFamily="34" charset="0"/>
                <a:ea typeface="Cambria" pitchFamily="34" charset="-122"/>
                <a:cs typeface="Cambria" pitchFamily="34" charset="-120"/>
              </a:rPr>
              <a:t>it's lack of a system that tells you</a:t>
            </a:r>
            <a:endParaRPr lang="en-US" sz="1700" dirty="0"/>
          </a:p>
          <a:p>
            <a:pPr marL="0" indent="0">
              <a:lnSpc>
                <a:spcPct val="130000"/>
              </a:lnSpc>
              <a:buNone/>
            </a:pPr>
            <a:r>
              <a:rPr lang="en-US" sz="1700" i="1" dirty="0">
                <a:solidFill>
                  <a:srgbClr val="16302F"/>
                </a:solidFill>
                <a:latin typeface="Cambria" pitchFamily="34" charset="0"/>
                <a:ea typeface="Cambria" pitchFamily="34" charset="-122"/>
                <a:cs typeface="Cambria" pitchFamily="34" charset="-120"/>
              </a:rPr>
              <a:t>what you already know.</a:t>
            </a:r>
            <a:endParaRPr lang="en-US" sz="1700" dirty="0"/>
          </a:p>
        </p:txBody>
      </p:sp>
      <p:sp>
        <p:nvSpPr>
          <p:cNvPr id="16" name="Text 14"/>
          <p:cNvSpPr txBox="1"/>
          <p:nvPr/>
        </p:nvSpPr>
        <p:spPr>
          <a:xfrm>
            <a:off x="457200" y="6510528"/>
            <a:ext cx="3657600" cy="274320"/>
          </a:xfrm>
          <a:prstGeom prst="rect">
            <a:avLst/>
          </a:prstGeom>
          <a:noFill/>
          <a:ln/>
        </p:spPr>
        <p:txBody>
          <a:bodyPr wrap="square" lIns="0" tIns="0" rIns="0" bIns="0" rtlCol="0" anchor="ctr"/>
          <a:lstStyle/>
          <a:p>
            <a:pPr marL="0" indent="0">
              <a:buNone/>
            </a:pPr>
            <a:r>
              <a:rPr lang="en-US" sz="1000" dirty="0">
                <a:solidFill>
                  <a:srgbClr val="5C7A76"/>
                </a:solidFill>
                <a:latin typeface="Calibri" pitchFamily="34" charset="0"/>
                <a:ea typeface="Calibri" pitchFamily="34" charset="-122"/>
                <a:cs typeface="Calibri" pitchFamily="34" charset="-120"/>
              </a:rPr>
              <a:t>StudyLoop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marL="0" indent="0">
              <a:buNone/>
            </a:pPr>
            <a:r>
              <a:rPr lang="en-US" sz="3200" b="1" dirty="0">
                <a:solidFill>
                  <a:srgbClr val="16302F"/>
                </a:solidFill>
                <a:latin typeface="Cambria" pitchFamily="34" charset="0"/>
                <a:ea typeface="Cambria" pitchFamily="34" charset="-122"/>
                <a:cs typeface="Cambria" pitchFamily="34" charset="-120"/>
              </a:rPr>
              <a:t>What we built</a:t>
            </a:r>
            <a:endParaRPr lang="en-US" sz="3200" dirty="0"/>
          </a:p>
        </p:txBody>
      </p:sp>
      <p:sp>
        <p:nvSpPr>
          <p:cNvPr id="3" name="Text 1"/>
          <p:cNvSpPr txBox="1"/>
          <p:nvPr/>
        </p:nvSpPr>
        <p:spPr>
          <a:xfrm>
            <a:off x="548640" y="1051560"/>
            <a:ext cx="9144000" cy="365760"/>
          </a:xfrm>
          <a:prstGeom prst="rect">
            <a:avLst/>
          </a:prstGeom>
          <a:noFill/>
          <a:ln/>
        </p:spPr>
        <p:txBody>
          <a:bodyPr wrap="square" lIns="0" tIns="0" rIns="0" bIns="0" rtlCol="0" anchor="ctr"/>
          <a:lstStyle/>
          <a:p>
            <a:pPr marL="0" indent="0">
              <a:buNone/>
            </a:pPr>
            <a:r>
              <a:rPr lang="en-US" sz="1500" dirty="0" err="1">
                <a:solidFill>
                  <a:srgbClr val="5C7A76"/>
                </a:solidFill>
                <a:latin typeface="Calibri" pitchFamily="34" charset="0"/>
                <a:ea typeface="Calibri" pitchFamily="34" charset="-122"/>
                <a:cs typeface="Calibri" pitchFamily="34" charset="-120"/>
              </a:rPr>
              <a:t>StudyLoop</a:t>
            </a:r>
            <a:r>
              <a:rPr lang="en-US" sz="1500" dirty="0">
                <a:solidFill>
                  <a:srgbClr val="5C7A76"/>
                </a:solidFill>
                <a:latin typeface="Calibri" pitchFamily="34" charset="0"/>
                <a:ea typeface="Calibri" pitchFamily="34" charset="-122"/>
                <a:cs typeface="Calibri" pitchFamily="34" charset="-120"/>
              </a:rPr>
              <a:t>: a flashcard app with automatic spaced repetition</a:t>
            </a:r>
            <a:endParaRPr lang="en-US" sz="1500" dirty="0"/>
          </a:p>
        </p:txBody>
      </p:sp>
      <p:sp>
        <p:nvSpPr>
          <p:cNvPr id="4" name="Shape 2"/>
          <p:cNvSpPr/>
          <p:nvPr/>
        </p:nvSpPr>
        <p:spPr>
          <a:xfrm>
            <a:off x="548640" y="1828800"/>
            <a:ext cx="2651760" cy="3931920"/>
          </a:xfrm>
          <a:prstGeom prst="roundRect">
            <a:avLst>
              <a:gd name="adj" fmla="val 4138"/>
            </a:avLst>
          </a:prstGeom>
          <a:solidFill>
            <a:srgbClr val="FFFFFF"/>
          </a:solidFill>
          <a:ln/>
          <a:effectLst>
            <a:outerShdw blurRad="76200" dist="25400" dir="5400000" algn="bl" rotWithShape="0">
              <a:srgbClr val="1B3A38">
                <a:alpha val="12000"/>
              </a:srgbClr>
            </a:outerShdw>
          </a:effectLst>
        </p:spPr>
        <p:txBody>
          <a:bodyPr/>
          <a:lstStyle/>
          <a:p>
            <a:endParaRPr lang="nl-NL"/>
          </a:p>
        </p:txBody>
      </p:sp>
      <p:sp>
        <p:nvSpPr>
          <p:cNvPr id="5" name="Shape 3"/>
          <p:cNvSpPr/>
          <p:nvPr/>
        </p:nvSpPr>
        <p:spPr>
          <a:xfrm>
            <a:off x="1463040" y="2194560"/>
            <a:ext cx="822960" cy="822960"/>
          </a:xfrm>
          <a:prstGeom prst="ellipse">
            <a:avLst/>
          </a:prstGeom>
          <a:solidFill>
            <a:srgbClr val="E6F5F3"/>
          </a:solidFill>
          <a:ln/>
        </p:spPr>
        <p:txBody>
          <a:bodyPr/>
          <a:lstStyle/>
          <a:p>
            <a:endParaRPr lang="nl-NL"/>
          </a:p>
        </p:txBody>
      </p:sp>
      <p:sp>
        <p:nvSpPr>
          <p:cNvPr id="6" name="Text 4"/>
          <p:cNvSpPr txBox="1"/>
          <p:nvPr/>
        </p:nvSpPr>
        <p:spPr>
          <a:xfrm>
            <a:off x="1463040" y="2194560"/>
            <a:ext cx="822960" cy="822960"/>
          </a:xfrm>
          <a:prstGeom prst="rect">
            <a:avLst/>
          </a:prstGeom>
          <a:noFill/>
          <a:ln/>
        </p:spPr>
        <p:txBody>
          <a:bodyPr wrap="square" lIns="0" tIns="0" rIns="0" bIns="0" rtlCol="0" anchor="ctr"/>
          <a:lstStyle/>
          <a:p>
            <a:pPr marL="0" indent="0" algn="ctr">
              <a:buNone/>
            </a:pPr>
            <a:r>
              <a:rPr lang="en-US" sz="2520" dirty="0">
                <a:solidFill>
                  <a:srgbClr val="028090"/>
                </a:solidFill>
                <a:latin typeface="Arial" pitchFamily="34" charset="0"/>
                <a:ea typeface="Arial" pitchFamily="34" charset="-122"/>
                <a:cs typeface="Arial" pitchFamily="34" charset="-120"/>
              </a:rPr>
              <a:t>📚</a:t>
            </a:r>
            <a:endParaRPr lang="en-US" sz="2520" dirty="0"/>
          </a:p>
        </p:txBody>
      </p:sp>
      <p:sp>
        <p:nvSpPr>
          <p:cNvPr id="7" name="Text 5"/>
          <p:cNvSpPr txBox="1"/>
          <p:nvPr/>
        </p:nvSpPr>
        <p:spPr>
          <a:xfrm>
            <a:off x="731520" y="3200400"/>
            <a:ext cx="2286000" cy="457200"/>
          </a:xfrm>
          <a:prstGeom prst="rect">
            <a:avLst/>
          </a:prstGeom>
          <a:noFill/>
          <a:ln/>
        </p:spPr>
        <p:txBody>
          <a:bodyPr wrap="square" lIns="0" tIns="0" rIns="0" bIns="0" rtlCol="0" anchor="ctr"/>
          <a:lstStyle/>
          <a:p>
            <a:pPr marL="0" indent="0" algn="ctr">
              <a:buNone/>
            </a:pPr>
            <a:r>
              <a:rPr lang="en-US" sz="1500" b="1" dirty="0">
                <a:solidFill>
                  <a:srgbClr val="16302F"/>
                </a:solidFill>
                <a:latin typeface="Calibri" pitchFamily="34" charset="0"/>
                <a:ea typeface="Calibri" pitchFamily="34" charset="-122"/>
                <a:cs typeface="Calibri" pitchFamily="34" charset="-120"/>
              </a:rPr>
              <a:t>Create decks</a:t>
            </a:r>
            <a:endParaRPr lang="en-US" sz="1500" dirty="0"/>
          </a:p>
        </p:txBody>
      </p:sp>
      <p:sp>
        <p:nvSpPr>
          <p:cNvPr id="8" name="Text 6"/>
          <p:cNvSpPr txBox="1"/>
          <p:nvPr/>
        </p:nvSpPr>
        <p:spPr>
          <a:xfrm>
            <a:off x="731520" y="3703320"/>
            <a:ext cx="2286000" cy="1828800"/>
          </a:xfrm>
          <a:prstGeom prst="rect">
            <a:avLst/>
          </a:prstGeom>
          <a:noFill/>
          <a:ln/>
        </p:spPr>
        <p:txBody>
          <a:bodyPr wrap="square" lIns="0" tIns="0" rIns="0" bIns="0" rtlCol="0" anchor="ctr"/>
          <a:lstStyle/>
          <a:p>
            <a:pPr marL="0" indent="0" algn="ctr">
              <a:lnSpc>
                <a:spcPct val="125000"/>
              </a:lnSpc>
              <a:buNone/>
            </a:pPr>
            <a:r>
              <a:rPr lang="en-US" sz="1250" dirty="0">
                <a:solidFill>
                  <a:srgbClr val="5C7A76"/>
                </a:solidFill>
                <a:latin typeface="Calibri" pitchFamily="34" charset="0"/>
                <a:ea typeface="Calibri" pitchFamily="34" charset="-122"/>
                <a:cs typeface="Calibri" pitchFamily="34" charset="-120"/>
              </a:rPr>
              <a:t>Organize cards by subject or exam</a:t>
            </a:r>
            <a:endParaRPr lang="en-US" sz="1250" dirty="0"/>
          </a:p>
        </p:txBody>
      </p:sp>
      <p:sp>
        <p:nvSpPr>
          <p:cNvPr id="9" name="Shape 7"/>
          <p:cNvSpPr/>
          <p:nvPr/>
        </p:nvSpPr>
        <p:spPr>
          <a:xfrm>
            <a:off x="3429000" y="1828800"/>
            <a:ext cx="2651760" cy="3931920"/>
          </a:xfrm>
          <a:prstGeom prst="roundRect">
            <a:avLst>
              <a:gd name="adj" fmla="val 4138"/>
            </a:avLst>
          </a:prstGeom>
          <a:solidFill>
            <a:srgbClr val="FFFFFF"/>
          </a:solidFill>
          <a:ln/>
          <a:effectLst>
            <a:outerShdw blurRad="76200" dist="25400" dir="5400000" algn="bl" rotWithShape="0">
              <a:srgbClr val="1B3A38">
                <a:alpha val="12000"/>
              </a:srgbClr>
            </a:outerShdw>
          </a:effectLst>
        </p:spPr>
        <p:txBody>
          <a:bodyPr/>
          <a:lstStyle/>
          <a:p>
            <a:endParaRPr lang="nl-NL"/>
          </a:p>
        </p:txBody>
      </p:sp>
      <p:sp>
        <p:nvSpPr>
          <p:cNvPr id="10" name="Shape 8"/>
          <p:cNvSpPr/>
          <p:nvPr/>
        </p:nvSpPr>
        <p:spPr>
          <a:xfrm>
            <a:off x="4343400" y="2194560"/>
            <a:ext cx="822960" cy="822960"/>
          </a:xfrm>
          <a:prstGeom prst="ellipse">
            <a:avLst/>
          </a:prstGeom>
          <a:solidFill>
            <a:srgbClr val="E6F5F3"/>
          </a:solidFill>
          <a:ln/>
        </p:spPr>
        <p:txBody>
          <a:bodyPr/>
          <a:lstStyle/>
          <a:p>
            <a:endParaRPr lang="nl-NL"/>
          </a:p>
        </p:txBody>
      </p:sp>
      <p:sp>
        <p:nvSpPr>
          <p:cNvPr id="11" name="Text 9"/>
          <p:cNvSpPr txBox="1"/>
          <p:nvPr/>
        </p:nvSpPr>
        <p:spPr>
          <a:xfrm>
            <a:off x="4343400" y="2194560"/>
            <a:ext cx="822960" cy="822960"/>
          </a:xfrm>
          <a:prstGeom prst="rect">
            <a:avLst/>
          </a:prstGeom>
          <a:noFill/>
          <a:ln/>
        </p:spPr>
        <p:txBody>
          <a:bodyPr wrap="square" lIns="0" tIns="0" rIns="0" bIns="0" rtlCol="0" anchor="ctr"/>
          <a:lstStyle/>
          <a:p>
            <a:pPr marL="0" indent="0" algn="ctr">
              <a:buNone/>
            </a:pPr>
            <a:r>
              <a:rPr lang="en-US" sz="2520" dirty="0">
                <a:solidFill>
                  <a:srgbClr val="028090"/>
                </a:solidFill>
                <a:latin typeface="Arial" pitchFamily="34" charset="0"/>
                <a:ea typeface="Arial" pitchFamily="34" charset="-122"/>
                <a:cs typeface="Arial" pitchFamily="34" charset="-120"/>
              </a:rPr>
              <a:t>✍️</a:t>
            </a:r>
            <a:endParaRPr lang="en-US" sz="2520" dirty="0"/>
          </a:p>
        </p:txBody>
      </p:sp>
      <p:sp>
        <p:nvSpPr>
          <p:cNvPr id="12" name="Text 10"/>
          <p:cNvSpPr txBox="1"/>
          <p:nvPr/>
        </p:nvSpPr>
        <p:spPr>
          <a:xfrm>
            <a:off x="3611880" y="3200400"/>
            <a:ext cx="2286000" cy="457200"/>
          </a:xfrm>
          <a:prstGeom prst="rect">
            <a:avLst/>
          </a:prstGeom>
          <a:noFill/>
          <a:ln/>
        </p:spPr>
        <p:txBody>
          <a:bodyPr wrap="square" lIns="0" tIns="0" rIns="0" bIns="0" rtlCol="0" anchor="ctr"/>
          <a:lstStyle/>
          <a:p>
            <a:pPr marL="0" indent="0" algn="ctr">
              <a:buNone/>
            </a:pPr>
            <a:r>
              <a:rPr lang="en-US" sz="1500" b="1" dirty="0">
                <a:solidFill>
                  <a:srgbClr val="16302F"/>
                </a:solidFill>
                <a:latin typeface="Calibri" pitchFamily="34" charset="0"/>
                <a:ea typeface="Calibri" pitchFamily="34" charset="-122"/>
                <a:cs typeface="Calibri" pitchFamily="34" charset="-120"/>
              </a:rPr>
              <a:t>Add cards your way</a:t>
            </a:r>
            <a:endParaRPr lang="en-US" sz="1500" dirty="0"/>
          </a:p>
        </p:txBody>
      </p:sp>
      <p:sp>
        <p:nvSpPr>
          <p:cNvPr id="13" name="Text 11"/>
          <p:cNvSpPr txBox="1"/>
          <p:nvPr/>
        </p:nvSpPr>
        <p:spPr>
          <a:xfrm>
            <a:off x="3611880" y="3703320"/>
            <a:ext cx="2286000" cy="1828800"/>
          </a:xfrm>
          <a:prstGeom prst="rect">
            <a:avLst/>
          </a:prstGeom>
          <a:noFill/>
          <a:ln/>
        </p:spPr>
        <p:txBody>
          <a:bodyPr wrap="square" lIns="0" tIns="0" rIns="0" bIns="0" rtlCol="0" anchor="ctr"/>
          <a:lstStyle/>
          <a:p>
            <a:pPr marL="0" indent="0" algn="ctr">
              <a:lnSpc>
                <a:spcPct val="125000"/>
              </a:lnSpc>
              <a:buNone/>
            </a:pPr>
            <a:r>
              <a:rPr lang="en-US" sz="1250" dirty="0">
                <a:solidFill>
                  <a:srgbClr val="5C7A76"/>
                </a:solidFill>
                <a:latin typeface="Calibri" pitchFamily="34" charset="0"/>
                <a:ea typeface="Calibri" pitchFamily="34" charset="-122"/>
                <a:cs typeface="Calibri" pitchFamily="34" charset="-120"/>
              </a:rPr>
              <a:t>One by one, pasted in bulk, or generated by AI from your notes</a:t>
            </a:r>
            <a:endParaRPr lang="en-US" sz="1250" dirty="0"/>
          </a:p>
        </p:txBody>
      </p:sp>
      <p:sp>
        <p:nvSpPr>
          <p:cNvPr id="14" name="Shape 12"/>
          <p:cNvSpPr/>
          <p:nvPr/>
        </p:nvSpPr>
        <p:spPr>
          <a:xfrm>
            <a:off x="6309360" y="1828800"/>
            <a:ext cx="2651760" cy="3931920"/>
          </a:xfrm>
          <a:prstGeom prst="roundRect">
            <a:avLst>
              <a:gd name="adj" fmla="val 4138"/>
            </a:avLst>
          </a:prstGeom>
          <a:solidFill>
            <a:srgbClr val="FFFFFF"/>
          </a:solidFill>
          <a:ln/>
          <a:effectLst>
            <a:outerShdw blurRad="76200" dist="25400" dir="5400000" algn="bl" rotWithShape="0">
              <a:srgbClr val="1B3A38">
                <a:alpha val="12000"/>
              </a:srgbClr>
            </a:outerShdw>
          </a:effectLst>
        </p:spPr>
        <p:txBody>
          <a:bodyPr/>
          <a:lstStyle/>
          <a:p>
            <a:endParaRPr lang="nl-NL"/>
          </a:p>
        </p:txBody>
      </p:sp>
      <p:sp>
        <p:nvSpPr>
          <p:cNvPr id="15" name="Shape 13"/>
          <p:cNvSpPr/>
          <p:nvPr/>
        </p:nvSpPr>
        <p:spPr>
          <a:xfrm>
            <a:off x="7223760" y="2194560"/>
            <a:ext cx="822960" cy="822960"/>
          </a:xfrm>
          <a:prstGeom prst="ellipse">
            <a:avLst/>
          </a:prstGeom>
          <a:solidFill>
            <a:srgbClr val="E6F5F3"/>
          </a:solidFill>
          <a:ln/>
        </p:spPr>
        <p:txBody>
          <a:bodyPr/>
          <a:lstStyle/>
          <a:p>
            <a:endParaRPr lang="nl-NL"/>
          </a:p>
        </p:txBody>
      </p:sp>
      <p:sp>
        <p:nvSpPr>
          <p:cNvPr id="16" name="Text 14"/>
          <p:cNvSpPr txBox="1"/>
          <p:nvPr/>
        </p:nvSpPr>
        <p:spPr>
          <a:xfrm>
            <a:off x="7223760" y="2194560"/>
            <a:ext cx="822960" cy="822960"/>
          </a:xfrm>
          <a:prstGeom prst="rect">
            <a:avLst/>
          </a:prstGeom>
          <a:noFill/>
          <a:ln/>
        </p:spPr>
        <p:txBody>
          <a:bodyPr wrap="square" lIns="0" tIns="0" rIns="0" bIns="0" rtlCol="0" anchor="ctr"/>
          <a:lstStyle/>
          <a:p>
            <a:pPr marL="0" indent="0" algn="ctr">
              <a:buNone/>
            </a:pPr>
            <a:r>
              <a:rPr lang="en-US" sz="2520" dirty="0">
                <a:solidFill>
                  <a:srgbClr val="028090"/>
                </a:solidFill>
                <a:latin typeface="Arial" pitchFamily="34" charset="0"/>
                <a:ea typeface="Arial" pitchFamily="34" charset="-122"/>
                <a:cs typeface="Arial" pitchFamily="34" charset="-120"/>
              </a:rPr>
              <a:t>🔁</a:t>
            </a:r>
            <a:endParaRPr lang="en-US" sz="2520" dirty="0"/>
          </a:p>
        </p:txBody>
      </p:sp>
      <p:sp>
        <p:nvSpPr>
          <p:cNvPr id="17" name="Text 15"/>
          <p:cNvSpPr txBox="1"/>
          <p:nvPr/>
        </p:nvSpPr>
        <p:spPr>
          <a:xfrm>
            <a:off x="6492240" y="3200400"/>
            <a:ext cx="2286000" cy="457200"/>
          </a:xfrm>
          <a:prstGeom prst="rect">
            <a:avLst/>
          </a:prstGeom>
          <a:noFill/>
          <a:ln/>
        </p:spPr>
        <p:txBody>
          <a:bodyPr wrap="square" lIns="0" tIns="0" rIns="0" bIns="0" rtlCol="0" anchor="ctr"/>
          <a:lstStyle/>
          <a:p>
            <a:pPr marL="0" indent="0" algn="ctr">
              <a:buNone/>
            </a:pPr>
            <a:r>
              <a:rPr lang="en-US" sz="1500" b="1" dirty="0">
                <a:solidFill>
                  <a:srgbClr val="16302F"/>
                </a:solidFill>
                <a:latin typeface="Calibri" pitchFamily="34" charset="0"/>
                <a:ea typeface="Calibri" pitchFamily="34" charset="-122"/>
                <a:cs typeface="Calibri" pitchFamily="34" charset="-120"/>
              </a:rPr>
              <a:t>Practice daily</a:t>
            </a:r>
            <a:endParaRPr lang="en-US" sz="1500" dirty="0"/>
          </a:p>
        </p:txBody>
      </p:sp>
      <p:sp>
        <p:nvSpPr>
          <p:cNvPr id="18" name="Text 16"/>
          <p:cNvSpPr txBox="1"/>
          <p:nvPr/>
        </p:nvSpPr>
        <p:spPr>
          <a:xfrm>
            <a:off x="6492240" y="3703320"/>
            <a:ext cx="2286000" cy="1828800"/>
          </a:xfrm>
          <a:prstGeom prst="rect">
            <a:avLst/>
          </a:prstGeom>
          <a:noFill/>
          <a:ln/>
        </p:spPr>
        <p:txBody>
          <a:bodyPr wrap="square" lIns="0" tIns="0" rIns="0" bIns="0" rtlCol="0" anchor="ctr"/>
          <a:lstStyle/>
          <a:p>
            <a:pPr marL="0" indent="0" algn="ctr">
              <a:lnSpc>
                <a:spcPct val="125000"/>
              </a:lnSpc>
              <a:buNone/>
            </a:pPr>
            <a:r>
              <a:rPr lang="en-US" sz="1250" dirty="0">
                <a:solidFill>
                  <a:srgbClr val="5C7A76"/>
                </a:solidFill>
                <a:latin typeface="Calibri" pitchFamily="34" charset="0"/>
                <a:ea typeface="Calibri" pitchFamily="34" charset="-122"/>
                <a:cs typeface="Calibri" pitchFamily="34" charset="-120"/>
              </a:rPr>
              <a:t>Only see the cards that are actually due today</a:t>
            </a:r>
            <a:endParaRPr lang="en-US" sz="1250" dirty="0"/>
          </a:p>
        </p:txBody>
      </p:sp>
      <p:sp>
        <p:nvSpPr>
          <p:cNvPr id="19" name="Shape 17"/>
          <p:cNvSpPr/>
          <p:nvPr/>
        </p:nvSpPr>
        <p:spPr>
          <a:xfrm>
            <a:off x="9189720" y="1828800"/>
            <a:ext cx="2651760" cy="3931920"/>
          </a:xfrm>
          <a:prstGeom prst="roundRect">
            <a:avLst>
              <a:gd name="adj" fmla="val 4138"/>
            </a:avLst>
          </a:prstGeom>
          <a:solidFill>
            <a:srgbClr val="FFFFFF"/>
          </a:solidFill>
          <a:ln/>
          <a:effectLst>
            <a:outerShdw blurRad="76200" dist="25400" dir="5400000" algn="bl" rotWithShape="0">
              <a:srgbClr val="1B3A38">
                <a:alpha val="12000"/>
              </a:srgbClr>
            </a:outerShdw>
          </a:effectLst>
        </p:spPr>
        <p:txBody>
          <a:bodyPr/>
          <a:lstStyle/>
          <a:p>
            <a:endParaRPr lang="nl-NL"/>
          </a:p>
        </p:txBody>
      </p:sp>
      <p:sp>
        <p:nvSpPr>
          <p:cNvPr id="20" name="Shape 18"/>
          <p:cNvSpPr/>
          <p:nvPr/>
        </p:nvSpPr>
        <p:spPr>
          <a:xfrm>
            <a:off x="10104120" y="2194560"/>
            <a:ext cx="822960" cy="822960"/>
          </a:xfrm>
          <a:prstGeom prst="ellipse">
            <a:avLst/>
          </a:prstGeom>
          <a:solidFill>
            <a:srgbClr val="E6F5F3"/>
          </a:solidFill>
          <a:ln/>
        </p:spPr>
        <p:txBody>
          <a:bodyPr/>
          <a:lstStyle/>
          <a:p>
            <a:endParaRPr lang="nl-NL"/>
          </a:p>
        </p:txBody>
      </p:sp>
      <p:sp>
        <p:nvSpPr>
          <p:cNvPr id="21" name="Text 19"/>
          <p:cNvSpPr txBox="1"/>
          <p:nvPr/>
        </p:nvSpPr>
        <p:spPr>
          <a:xfrm>
            <a:off x="10104120" y="2194560"/>
            <a:ext cx="822960" cy="822960"/>
          </a:xfrm>
          <a:prstGeom prst="rect">
            <a:avLst/>
          </a:prstGeom>
          <a:noFill/>
          <a:ln/>
        </p:spPr>
        <p:txBody>
          <a:bodyPr wrap="square" lIns="0" tIns="0" rIns="0" bIns="0" rtlCol="0" anchor="ctr"/>
          <a:lstStyle/>
          <a:p>
            <a:pPr marL="0" indent="0" algn="ctr">
              <a:buNone/>
            </a:pPr>
            <a:r>
              <a:rPr lang="en-US" sz="2520" dirty="0">
                <a:solidFill>
                  <a:srgbClr val="028090"/>
                </a:solidFill>
                <a:latin typeface="Arial" pitchFamily="34" charset="0"/>
                <a:ea typeface="Arial" pitchFamily="34" charset="-122"/>
                <a:cs typeface="Arial" pitchFamily="34" charset="-120"/>
              </a:rPr>
              <a:t>📈</a:t>
            </a:r>
            <a:endParaRPr lang="en-US" sz="2520" dirty="0"/>
          </a:p>
        </p:txBody>
      </p:sp>
      <p:sp>
        <p:nvSpPr>
          <p:cNvPr id="22" name="Text 20"/>
          <p:cNvSpPr txBox="1"/>
          <p:nvPr/>
        </p:nvSpPr>
        <p:spPr>
          <a:xfrm>
            <a:off x="9372600" y="3200400"/>
            <a:ext cx="2286000" cy="457200"/>
          </a:xfrm>
          <a:prstGeom prst="rect">
            <a:avLst/>
          </a:prstGeom>
          <a:noFill/>
          <a:ln/>
        </p:spPr>
        <p:txBody>
          <a:bodyPr wrap="square" lIns="0" tIns="0" rIns="0" bIns="0" rtlCol="0" anchor="ctr"/>
          <a:lstStyle/>
          <a:p>
            <a:pPr marL="0" indent="0" algn="ctr">
              <a:buNone/>
            </a:pPr>
            <a:r>
              <a:rPr lang="en-US" sz="1500" b="1" dirty="0">
                <a:solidFill>
                  <a:srgbClr val="16302F"/>
                </a:solidFill>
                <a:latin typeface="Calibri" pitchFamily="34" charset="0"/>
                <a:ea typeface="Calibri" pitchFamily="34" charset="-122"/>
                <a:cs typeface="Calibri" pitchFamily="34" charset="-120"/>
              </a:rPr>
              <a:t>Track progress</a:t>
            </a:r>
            <a:endParaRPr lang="en-US" sz="1500" dirty="0"/>
          </a:p>
        </p:txBody>
      </p:sp>
      <p:sp>
        <p:nvSpPr>
          <p:cNvPr id="23" name="Text 21"/>
          <p:cNvSpPr txBox="1"/>
          <p:nvPr/>
        </p:nvSpPr>
        <p:spPr>
          <a:xfrm>
            <a:off x="9372600" y="3703320"/>
            <a:ext cx="2286000" cy="1828800"/>
          </a:xfrm>
          <a:prstGeom prst="rect">
            <a:avLst/>
          </a:prstGeom>
          <a:noFill/>
          <a:ln/>
        </p:spPr>
        <p:txBody>
          <a:bodyPr wrap="square" lIns="0" tIns="0" rIns="0" bIns="0" rtlCol="0" anchor="ctr"/>
          <a:lstStyle/>
          <a:p>
            <a:pPr marL="0" indent="0" algn="ctr">
              <a:lnSpc>
                <a:spcPct val="125000"/>
              </a:lnSpc>
              <a:buNone/>
            </a:pPr>
            <a:r>
              <a:rPr lang="en-US" sz="1250" dirty="0">
                <a:solidFill>
                  <a:srgbClr val="5C7A76"/>
                </a:solidFill>
                <a:latin typeface="Calibri" pitchFamily="34" charset="0"/>
                <a:ea typeface="Calibri" pitchFamily="34" charset="-122"/>
                <a:cs typeface="Calibri" pitchFamily="34" charset="-120"/>
              </a:rPr>
              <a:t>See what you've mastered and keep your streak going</a:t>
            </a:r>
            <a:endParaRPr lang="en-US" sz="1250" dirty="0"/>
          </a:p>
        </p:txBody>
      </p:sp>
      <p:sp>
        <p:nvSpPr>
          <p:cNvPr id="24" name="Text 22"/>
          <p:cNvSpPr txBox="1"/>
          <p:nvPr/>
        </p:nvSpPr>
        <p:spPr>
          <a:xfrm>
            <a:off x="457200" y="6510528"/>
            <a:ext cx="3657600" cy="274320"/>
          </a:xfrm>
          <a:prstGeom prst="rect">
            <a:avLst/>
          </a:prstGeom>
          <a:noFill/>
          <a:ln/>
        </p:spPr>
        <p:txBody>
          <a:bodyPr wrap="square" lIns="0" tIns="0" rIns="0" bIns="0" rtlCol="0" anchor="ctr"/>
          <a:lstStyle/>
          <a:p>
            <a:pPr marL="0" indent="0">
              <a:buNone/>
            </a:pPr>
            <a:r>
              <a:rPr lang="en-US" sz="1000" dirty="0">
                <a:solidFill>
                  <a:srgbClr val="5C7A76"/>
                </a:solidFill>
                <a:latin typeface="Calibri" pitchFamily="34" charset="0"/>
                <a:ea typeface="Calibri" pitchFamily="34" charset="-122"/>
                <a:cs typeface="Calibri" pitchFamily="34" charset="-120"/>
              </a:rPr>
              <a:t>StudyLoop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B2E"/>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marL="0" indent="0">
              <a:buNone/>
            </a:pPr>
            <a:r>
              <a:rPr lang="en-US" sz="3000" b="1" dirty="0">
                <a:solidFill>
                  <a:srgbClr val="F4FAF9"/>
                </a:solidFill>
                <a:latin typeface="Cambria" pitchFamily="34" charset="0"/>
                <a:ea typeface="Cambria" pitchFamily="34" charset="-122"/>
                <a:cs typeface="Cambria" pitchFamily="34" charset="-120"/>
              </a:rPr>
              <a:t>The engine: spaced repetition</a:t>
            </a:r>
            <a:endParaRPr lang="en-US" sz="3000" dirty="0"/>
          </a:p>
        </p:txBody>
      </p:sp>
      <p:sp>
        <p:nvSpPr>
          <p:cNvPr id="3" name="Text 1"/>
          <p:cNvSpPr txBox="1"/>
          <p:nvPr/>
        </p:nvSpPr>
        <p:spPr>
          <a:xfrm>
            <a:off x="548640" y="1097280"/>
            <a:ext cx="9144000" cy="365760"/>
          </a:xfrm>
          <a:prstGeom prst="rect">
            <a:avLst/>
          </a:prstGeom>
          <a:noFill/>
          <a:ln/>
        </p:spPr>
        <p:txBody>
          <a:bodyPr wrap="square" lIns="0" tIns="0" rIns="0" bIns="0" rtlCol="0" anchor="ctr"/>
          <a:lstStyle/>
          <a:p>
            <a:pPr marL="0" indent="0">
              <a:buNone/>
            </a:pPr>
            <a:r>
              <a:rPr lang="en-US" sz="1400" dirty="0">
                <a:solidFill>
                  <a:srgbClr val="9FC9C4"/>
                </a:solidFill>
                <a:latin typeface="Calibri" pitchFamily="34" charset="0"/>
                <a:ea typeface="Calibri" pitchFamily="34" charset="-122"/>
                <a:cs typeface="Calibri" pitchFamily="34" charset="-120"/>
              </a:rPr>
              <a:t>Every card schedules its own comeback based on how well you knew it</a:t>
            </a:r>
            <a:endParaRPr lang="en-US" sz="1400" dirty="0"/>
          </a:p>
        </p:txBody>
      </p:sp>
      <p:sp>
        <p:nvSpPr>
          <p:cNvPr id="4" name="Shape 2"/>
          <p:cNvSpPr/>
          <p:nvPr/>
        </p:nvSpPr>
        <p:spPr>
          <a:xfrm>
            <a:off x="548640" y="2194560"/>
            <a:ext cx="2468880" cy="2377440"/>
          </a:xfrm>
          <a:prstGeom prst="roundRect">
            <a:avLst>
              <a:gd name="adj" fmla="val 4615"/>
            </a:avLst>
          </a:prstGeom>
          <a:solidFill>
            <a:srgbClr val="10393B"/>
          </a:solidFill>
          <a:ln w="12700">
            <a:solidFill>
              <a:srgbClr val="1E4B4D"/>
            </a:solidFill>
            <a:prstDash val="solid"/>
          </a:ln>
        </p:spPr>
        <p:txBody>
          <a:bodyPr/>
          <a:lstStyle/>
          <a:p>
            <a:endParaRPr lang="nl-NL"/>
          </a:p>
        </p:txBody>
      </p:sp>
      <p:sp>
        <p:nvSpPr>
          <p:cNvPr id="5" name="Shape 3"/>
          <p:cNvSpPr/>
          <p:nvPr/>
        </p:nvSpPr>
        <p:spPr>
          <a:xfrm>
            <a:off x="1463040" y="2514600"/>
            <a:ext cx="640080" cy="640080"/>
          </a:xfrm>
          <a:prstGeom prst="ellipse">
            <a:avLst/>
          </a:prstGeom>
          <a:solidFill>
            <a:srgbClr val="02C39A"/>
          </a:solidFill>
          <a:ln/>
        </p:spPr>
        <p:txBody>
          <a:bodyPr/>
          <a:lstStyle/>
          <a:p>
            <a:endParaRPr lang="nl-NL"/>
          </a:p>
        </p:txBody>
      </p:sp>
      <p:sp>
        <p:nvSpPr>
          <p:cNvPr id="6" name="Text 4"/>
          <p:cNvSpPr txBox="1"/>
          <p:nvPr/>
        </p:nvSpPr>
        <p:spPr>
          <a:xfrm>
            <a:off x="1463040" y="251460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685800" y="3337560"/>
            <a:ext cx="2194560" cy="457200"/>
          </a:xfrm>
          <a:prstGeom prst="rect">
            <a:avLst/>
          </a:prstGeom>
          <a:noFill/>
          <a:ln/>
        </p:spPr>
        <p:txBody>
          <a:bodyPr wrap="square" lIns="0" tIns="0" rIns="0" bIns="0" rtlCol="0" anchor="ctr"/>
          <a:lstStyle/>
          <a:p>
            <a:pPr marL="0" indent="0" algn="ctr">
              <a:buNone/>
            </a:pPr>
            <a:r>
              <a:rPr lang="en-US" sz="1500" b="1" dirty="0">
                <a:solidFill>
                  <a:srgbClr val="F4FAF9"/>
                </a:solidFill>
                <a:latin typeface="Calibri" pitchFamily="34" charset="0"/>
                <a:ea typeface="Calibri" pitchFamily="34" charset="-122"/>
                <a:cs typeface="Calibri" pitchFamily="34" charset="-120"/>
              </a:rPr>
              <a:t>Didn't know it</a:t>
            </a:r>
            <a:endParaRPr lang="en-US" sz="1500" dirty="0"/>
          </a:p>
        </p:txBody>
      </p:sp>
      <p:sp>
        <p:nvSpPr>
          <p:cNvPr id="8" name="Text 6"/>
          <p:cNvSpPr txBox="1"/>
          <p:nvPr/>
        </p:nvSpPr>
        <p:spPr>
          <a:xfrm>
            <a:off x="685800" y="3840480"/>
            <a:ext cx="2194560" cy="548640"/>
          </a:xfrm>
          <a:prstGeom prst="rect">
            <a:avLst/>
          </a:prstGeom>
          <a:noFill/>
          <a:ln/>
        </p:spPr>
        <p:txBody>
          <a:bodyPr wrap="square" lIns="0" tIns="0" rIns="0" bIns="0" rtlCol="0" anchor="ctr"/>
          <a:lstStyle/>
          <a:p>
            <a:pPr marL="0" indent="0" algn="ctr">
              <a:buNone/>
            </a:pPr>
            <a:r>
              <a:rPr lang="en-US" sz="1300" dirty="0">
                <a:solidFill>
                  <a:srgbClr val="9FC9C4"/>
                </a:solidFill>
                <a:latin typeface="Calibri" pitchFamily="34" charset="0"/>
                <a:ea typeface="Calibri" pitchFamily="34" charset="-122"/>
                <a:cs typeface="Calibri" pitchFamily="34" charset="-120"/>
              </a:rPr>
              <a:t>Back tomorrow</a:t>
            </a:r>
            <a:endParaRPr lang="en-US" sz="1300" dirty="0"/>
          </a:p>
        </p:txBody>
      </p:sp>
      <p:sp>
        <p:nvSpPr>
          <p:cNvPr id="9" name="Text 7"/>
          <p:cNvSpPr txBox="1"/>
          <p:nvPr/>
        </p:nvSpPr>
        <p:spPr>
          <a:xfrm>
            <a:off x="3017520" y="3017520"/>
            <a:ext cx="320040" cy="548640"/>
          </a:xfrm>
          <a:prstGeom prst="rect">
            <a:avLst/>
          </a:prstGeom>
          <a:noFill/>
          <a:ln/>
        </p:spPr>
        <p:txBody>
          <a:bodyPr wrap="square" lIns="0" tIns="0" rIns="0" bIns="0" rtlCol="0" anchor="ctr"/>
          <a:lstStyle/>
          <a:p>
            <a:pPr marL="0" indent="0" algn="ctr">
              <a:buNone/>
            </a:pPr>
            <a:r>
              <a:rPr lang="en-US" sz="2000" dirty="0">
                <a:solidFill>
                  <a:srgbClr val="6FB5B0"/>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3337560" y="2194560"/>
            <a:ext cx="2468880" cy="2377440"/>
          </a:xfrm>
          <a:prstGeom prst="roundRect">
            <a:avLst>
              <a:gd name="adj" fmla="val 4615"/>
            </a:avLst>
          </a:prstGeom>
          <a:solidFill>
            <a:srgbClr val="10393B"/>
          </a:solidFill>
          <a:ln w="12700">
            <a:solidFill>
              <a:srgbClr val="1E4B4D"/>
            </a:solidFill>
            <a:prstDash val="solid"/>
          </a:ln>
        </p:spPr>
        <p:txBody>
          <a:bodyPr/>
          <a:lstStyle/>
          <a:p>
            <a:endParaRPr lang="nl-NL"/>
          </a:p>
        </p:txBody>
      </p:sp>
      <p:sp>
        <p:nvSpPr>
          <p:cNvPr id="11" name="Shape 9"/>
          <p:cNvSpPr/>
          <p:nvPr/>
        </p:nvSpPr>
        <p:spPr>
          <a:xfrm>
            <a:off x="4251960" y="2514600"/>
            <a:ext cx="640080" cy="640080"/>
          </a:xfrm>
          <a:prstGeom prst="ellipse">
            <a:avLst/>
          </a:prstGeom>
          <a:solidFill>
            <a:srgbClr val="00A896"/>
          </a:solidFill>
          <a:ln/>
        </p:spPr>
        <p:txBody>
          <a:bodyPr/>
          <a:lstStyle/>
          <a:p>
            <a:endParaRPr lang="nl-NL"/>
          </a:p>
        </p:txBody>
      </p:sp>
      <p:sp>
        <p:nvSpPr>
          <p:cNvPr id="12" name="Text 10"/>
          <p:cNvSpPr txBox="1"/>
          <p:nvPr/>
        </p:nvSpPr>
        <p:spPr>
          <a:xfrm>
            <a:off x="4251960" y="251460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3474720" y="3337560"/>
            <a:ext cx="2194560" cy="457200"/>
          </a:xfrm>
          <a:prstGeom prst="rect">
            <a:avLst/>
          </a:prstGeom>
          <a:noFill/>
          <a:ln/>
        </p:spPr>
        <p:txBody>
          <a:bodyPr wrap="square" lIns="0" tIns="0" rIns="0" bIns="0" rtlCol="0" anchor="ctr"/>
          <a:lstStyle/>
          <a:p>
            <a:pPr marL="0" indent="0" algn="ctr">
              <a:buNone/>
            </a:pPr>
            <a:r>
              <a:rPr lang="en-US" sz="1500" b="1" dirty="0">
                <a:solidFill>
                  <a:srgbClr val="F4FAF9"/>
                </a:solidFill>
                <a:latin typeface="Calibri" pitchFamily="34" charset="0"/>
                <a:ea typeface="Calibri" pitchFamily="34" charset="-122"/>
                <a:cs typeface="Calibri" pitchFamily="34" charset="-120"/>
              </a:rPr>
              <a:t>Hard</a:t>
            </a:r>
            <a:endParaRPr lang="en-US" sz="1500" dirty="0"/>
          </a:p>
        </p:txBody>
      </p:sp>
      <p:sp>
        <p:nvSpPr>
          <p:cNvPr id="14" name="Text 12"/>
          <p:cNvSpPr txBox="1"/>
          <p:nvPr/>
        </p:nvSpPr>
        <p:spPr>
          <a:xfrm>
            <a:off x="3474720" y="3840480"/>
            <a:ext cx="2194560" cy="548640"/>
          </a:xfrm>
          <a:prstGeom prst="rect">
            <a:avLst/>
          </a:prstGeom>
          <a:noFill/>
          <a:ln/>
        </p:spPr>
        <p:txBody>
          <a:bodyPr wrap="square" lIns="0" tIns="0" rIns="0" bIns="0" rtlCol="0" anchor="ctr"/>
          <a:lstStyle/>
          <a:p>
            <a:pPr marL="0" indent="0" algn="ctr">
              <a:buNone/>
            </a:pPr>
            <a:r>
              <a:rPr lang="en-US" sz="1300" dirty="0">
                <a:solidFill>
                  <a:srgbClr val="9FC9C4"/>
                </a:solidFill>
                <a:latin typeface="Calibri" pitchFamily="34" charset="0"/>
                <a:ea typeface="Calibri" pitchFamily="34" charset="-122"/>
                <a:cs typeface="Calibri" pitchFamily="34" charset="-120"/>
              </a:rPr>
              <a:t>Interval × 1.2</a:t>
            </a:r>
            <a:endParaRPr lang="en-US" sz="1300" dirty="0"/>
          </a:p>
        </p:txBody>
      </p:sp>
      <p:sp>
        <p:nvSpPr>
          <p:cNvPr id="15" name="Text 13"/>
          <p:cNvSpPr txBox="1"/>
          <p:nvPr/>
        </p:nvSpPr>
        <p:spPr>
          <a:xfrm>
            <a:off x="5806440" y="3017520"/>
            <a:ext cx="320040" cy="548640"/>
          </a:xfrm>
          <a:prstGeom prst="rect">
            <a:avLst/>
          </a:prstGeom>
          <a:noFill/>
          <a:ln/>
        </p:spPr>
        <p:txBody>
          <a:bodyPr wrap="square" lIns="0" tIns="0" rIns="0" bIns="0" rtlCol="0" anchor="ctr"/>
          <a:lstStyle/>
          <a:p>
            <a:pPr marL="0" indent="0" algn="ctr">
              <a:buNone/>
            </a:pPr>
            <a:r>
              <a:rPr lang="en-US" sz="2000" dirty="0">
                <a:solidFill>
                  <a:srgbClr val="6FB5B0"/>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6126480" y="2194560"/>
            <a:ext cx="2468880" cy="2377440"/>
          </a:xfrm>
          <a:prstGeom prst="roundRect">
            <a:avLst>
              <a:gd name="adj" fmla="val 4615"/>
            </a:avLst>
          </a:prstGeom>
          <a:solidFill>
            <a:srgbClr val="10393B"/>
          </a:solidFill>
          <a:ln w="12700">
            <a:solidFill>
              <a:srgbClr val="1E4B4D"/>
            </a:solidFill>
            <a:prstDash val="solid"/>
          </a:ln>
        </p:spPr>
        <p:txBody>
          <a:bodyPr/>
          <a:lstStyle/>
          <a:p>
            <a:endParaRPr lang="nl-NL"/>
          </a:p>
        </p:txBody>
      </p:sp>
      <p:sp>
        <p:nvSpPr>
          <p:cNvPr id="17" name="Shape 15"/>
          <p:cNvSpPr/>
          <p:nvPr/>
        </p:nvSpPr>
        <p:spPr>
          <a:xfrm>
            <a:off x="7040880" y="2514600"/>
            <a:ext cx="640080" cy="640080"/>
          </a:xfrm>
          <a:prstGeom prst="ellipse">
            <a:avLst/>
          </a:prstGeom>
          <a:solidFill>
            <a:srgbClr val="00A896"/>
          </a:solidFill>
          <a:ln/>
        </p:spPr>
        <p:txBody>
          <a:bodyPr/>
          <a:lstStyle/>
          <a:p>
            <a:endParaRPr lang="nl-NL"/>
          </a:p>
        </p:txBody>
      </p:sp>
      <p:sp>
        <p:nvSpPr>
          <p:cNvPr id="18" name="Text 16"/>
          <p:cNvSpPr txBox="1"/>
          <p:nvPr/>
        </p:nvSpPr>
        <p:spPr>
          <a:xfrm>
            <a:off x="7040880" y="251460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txBox="1"/>
          <p:nvPr/>
        </p:nvSpPr>
        <p:spPr>
          <a:xfrm>
            <a:off x="6263640" y="3337560"/>
            <a:ext cx="2194560" cy="457200"/>
          </a:xfrm>
          <a:prstGeom prst="rect">
            <a:avLst/>
          </a:prstGeom>
          <a:noFill/>
          <a:ln/>
        </p:spPr>
        <p:txBody>
          <a:bodyPr wrap="square" lIns="0" tIns="0" rIns="0" bIns="0" rtlCol="0" anchor="ctr"/>
          <a:lstStyle/>
          <a:p>
            <a:pPr marL="0" indent="0" algn="ctr">
              <a:buNone/>
            </a:pPr>
            <a:r>
              <a:rPr lang="en-US" sz="1500" b="1" dirty="0">
                <a:solidFill>
                  <a:srgbClr val="F4FAF9"/>
                </a:solidFill>
                <a:latin typeface="Calibri" pitchFamily="34" charset="0"/>
                <a:ea typeface="Calibri" pitchFamily="34" charset="-122"/>
                <a:cs typeface="Calibri" pitchFamily="34" charset="-120"/>
              </a:rPr>
              <a:t>Good</a:t>
            </a:r>
            <a:endParaRPr lang="en-US" sz="1500" dirty="0"/>
          </a:p>
        </p:txBody>
      </p:sp>
      <p:sp>
        <p:nvSpPr>
          <p:cNvPr id="20" name="Text 18"/>
          <p:cNvSpPr txBox="1"/>
          <p:nvPr/>
        </p:nvSpPr>
        <p:spPr>
          <a:xfrm>
            <a:off x="6263640" y="3840480"/>
            <a:ext cx="2194560" cy="548640"/>
          </a:xfrm>
          <a:prstGeom prst="rect">
            <a:avLst/>
          </a:prstGeom>
          <a:noFill/>
          <a:ln/>
        </p:spPr>
        <p:txBody>
          <a:bodyPr wrap="square" lIns="0" tIns="0" rIns="0" bIns="0" rtlCol="0" anchor="ctr"/>
          <a:lstStyle/>
          <a:p>
            <a:pPr marL="0" indent="0" algn="ctr">
              <a:buNone/>
            </a:pPr>
            <a:r>
              <a:rPr lang="en-US" sz="1300" dirty="0">
                <a:solidFill>
                  <a:srgbClr val="9FC9C4"/>
                </a:solidFill>
                <a:latin typeface="Calibri" pitchFamily="34" charset="0"/>
                <a:ea typeface="Calibri" pitchFamily="34" charset="-122"/>
                <a:cs typeface="Calibri" pitchFamily="34" charset="-120"/>
              </a:rPr>
              <a:t>Interval × 2</a:t>
            </a:r>
            <a:endParaRPr lang="en-US" sz="1300" dirty="0"/>
          </a:p>
        </p:txBody>
      </p:sp>
      <p:sp>
        <p:nvSpPr>
          <p:cNvPr id="21" name="Text 19"/>
          <p:cNvSpPr txBox="1"/>
          <p:nvPr/>
        </p:nvSpPr>
        <p:spPr>
          <a:xfrm>
            <a:off x="8595360" y="3017520"/>
            <a:ext cx="320040" cy="548640"/>
          </a:xfrm>
          <a:prstGeom prst="rect">
            <a:avLst/>
          </a:prstGeom>
          <a:noFill/>
          <a:ln/>
        </p:spPr>
        <p:txBody>
          <a:bodyPr wrap="square" lIns="0" tIns="0" rIns="0" bIns="0" rtlCol="0" anchor="ctr"/>
          <a:lstStyle/>
          <a:p>
            <a:pPr marL="0" indent="0" algn="ctr">
              <a:buNone/>
            </a:pPr>
            <a:r>
              <a:rPr lang="en-US" sz="2000" dirty="0">
                <a:solidFill>
                  <a:srgbClr val="6FB5B0"/>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8915400" y="2194560"/>
            <a:ext cx="2468880" cy="2377440"/>
          </a:xfrm>
          <a:prstGeom prst="roundRect">
            <a:avLst>
              <a:gd name="adj" fmla="val 4615"/>
            </a:avLst>
          </a:prstGeom>
          <a:solidFill>
            <a:srgbClr val="10393B"/>
          </a:solidFill>
          <a:ln w="12700">
            <a:solidFill>
              <a:srgbClr val="1E4B4D"/>
            </a:solidFill>
            <a:prstDash val="solid"/>
          </a:ln>
        </p:spPr>
        <p:txBody>
          <a:bodyPr/>
          <a:lstStyle/>
          <a:p>
            <a:endParaRPr lang="nl-NL"/>
          </a:p>
        </p:txBody>
      </p:sp>
      <p:sp>
        <p:nvSpPr>
          <p:cNvPr id="23" name="Shape 21"/>
          <p:cNvSpPr/>
          <p:nvPr/>
        </p:nvSpPr>
        <p:spPr>
          <a:xfrm>
            <a:off x="9829800" y="2514600"/>
            <a:ext cx="640080" cy="640080"/>
          </a:xfrm>
          <a:prstGeom prst="ellipse">
            <a:avLst/>
          </a:prstGeom>
          <a:solidFill>
            <a:srgbClr val="028090"/>
          </a:solidFill>
          <a:ln/>
        </p:spPr>
        <p:txBody>
          <a:bodyPr/>
          <a:lstStyle/>
          <a:p>
            <a:endParaRPr lang="nl-NL"/>
          </a:p>
        </p:txBody>
      </p:sp>
      <p:sp>
        <p:nvSpPr>
          <p:cNvPr id="24" name="Text 22"/>
          <p:cNvSpPr txBox="1"/>
          <p:nvPr/>
        </p:nvSpPr>
        <p:spPr>
          <a:xfrm>
            <a:off x="9829800" y="251460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5" name="Text 23"/>
          <p:cNvSpPr txBox="1"/>
          <p:nvPr/>
        </p:nvSpPr>
        <p:spPr>
          <a:xfrm>
            <a:off x="9052560" y="3337560"/>
            <a:ext cx="2194560" cy="457200"/>
          </a:xfrm>
          <a:prstGeom prst="rect">
            <a:avLst/>
          </a:prstGeom>
          <a:noFill/>
          <a:ln/>
        </p:spPr>
        <p:txBody>
          <a:bodyPr wrap="square" lIns="0" tIns="0" rIns="0" bIns="0" rtlCol="0" anchor="ctr"/>
          <a:lstStyle/>
          <a:p>
            <a:pPr marL="0" indent="0" algn="ctr">
              <a:buNone/>
            </a:pPr>
            <a:r>
              <a:rPr lang="en-US" sz="1500" b="1" dirty="0">
                <a:solidFill>
                  <a:srgbClr val="F4FAF9"/>
                </a:solidFill>
                <a:latin typeface="Calibri" pitchFamily="34" charset="0"/>
                <a:ea typeface="Calibri" pitchFamily="34" charset="-122"/>
                <a:cs typeface="Calibri" pitchFamily="34" charset="-120"/>
              </a:rPr>
              <a:t>Easy</a:t>
            </a:r>
            <a:endParaRPr lang="en-US" sz="1500" dirty="0"/>
          </a:p>
        </p:txBody>
      </p:sp>
      <p:sp>
        <p:nvSpPr>
          <p:cNvPr id="26" name="Text 24"/>
          <p:cNvSpPr txBox="1"/>
          <p:nvPr/>
        </p:nvSpPr>
        <p:spPr>
          <a:xfrm>
            <a:off x="9052560" y="3840480"/>
            <a:ext cx="2194560" cy="548640"/>
          </a:xfrm>
          <a:prstGeom prst="rect">
            <a:avLst/>
          </a:prstGeom>
          <a:noFill/>
          <a:ln/>
        </p:spPr>
        <p:txBody>
          <a:bodyPr wrap="square" lIns="0" tIns="0" rIns="0" bIns="0" rtlCol="0" anchor="ctr"/>
          <a:lstStyle/>
          <a:p>
            <a:pPr marL="0" indent="0" algn="ctr">
              <a:buNone/>
            </a:pPr>
            <a:r>
              <a:rPr lang="en-US" sz="1300" dirty="0">
                <a:solidFill>
                  <a:srgbClr val="9FC9C4"/>
                </a:solidFill>
                <a:latin typeface="Calibri" pitchFamily="34" charset="0"/>
                <a:ea typeface="Calibri" pitchFamily="34" charset="-122"/>
                <a:cs typeface="Calibri" pitchFamily="34" charset="-120"/>
              </a:rPr>
              <a:t>Interval × 2.5</a:t>
            </a:r>
            <a:endParaRPr lang="en-US" sz="1300" dirty="0"/>
          </a:p>
        </p:txBody>
      </p:sp>
      <p:sp>
        <p:nvSpPr>
          <p:cNvPr id="27" name="Text 25"/>
          <p:cNvSpPr txBox="1"/>
          <p:nvPr/>
        </p:nvSpPr>
        <p:spPr>
          <a:xfrm>
            <a:off x="548640" y="4937760"/>
            <a:ext cx="10515600" cy="548640"/>
          </a:xfrm>
          <a:prstGeom prst="rect">
            <a:avLst/>
          </a:prstGeom>
          <a:noFill/>
          <a:ln/>
        </p:spPr>
        <p:txBody>
          <a:bodyPr wrap="square" lIns="0" tIns="0" rIns="0" bIns="0" rtlCol="0" anchor="ctr"/>
          <a:lstStyle/>
          <a:p>
            <a:pPr marL="0" indent="0">
              <a:buNone/>
            </a:pPr>
            <a:r>
              <a:rPr lang="en-US" sz="1600" i="1" dirty="0">
                <a:solidFill>
                  <a:srgbClr val="D8F1EE"/>
                </a:solidFill>
                <a:latin typeface="Cambria" pitchFamily="34" charset="0"/>
                <a:ea typeface="Cambria" pitchFamily="34" charset="-122"/>
                <a:cs typeface="Cambria" pitchFamily="34" charset="-120"/>
              </a:rPr>
              <a:t>Result: hard cards come back fast. Cards you've mastered come back less. No wasted time.</a:t>
            </a:r>
            <a:endParaRPr lang="en-US" sz="1600" dirty="0"/>
          </a:p>
        </p:txBody>
      </p:sp>
      <p:sp>
        <p:nvSpPr>
          <p:cNvPr id="28" name="Text 26"/>
          <p:cNvSpPr txBox="1"/>
          <p:nvPr/>
        </p:nvSpPr>
        <p:spPr>
          <a:xfrm>
            <a:off x="457200" y="6510528"/>
            <a:ext cx="3657600" cy="274320"/>
          </a:xfrm>
          <a:prstGeom prst="rect">
            <a:avLst/>
          </a:prstGeom>
          <a:noFill/>
          <a:ln/>
        </p:spPr>
        <p:txBody>
          <a:bodyPr wrap="square" lIns="0" tIns="0" rIns="0" bIns="0" rtlCol="0" anchor="ctr"/>
          <a:lstStyle/>
          <a:p>
            <a:pPr marL="0" indent="0">
              <a:buNone/>
            </a:pPr>
            <a:r>
              <a:rPr lang="en-US" sz="1000" dirty="0">
                <a:solidFill>
                  <a:srgbClr val="9FC9C4"/>
                </a:solidFill>
                <a:latin typeface="Calibri" pitchFamily="34" charset="0"/>
                <a:ea typeface="Calibri" pitchFamily="34" charset="-122"/>
                <a:cs typeface="Calibri" pitchFamily="34" charset="-120"/>
              </a:rPr>
              <a:t>StudyLoop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marL="0" indent="0">
              <a:buNone/>
            </a:pPr>
            <a:r>
              <a:rPr lang="en-US" sz="3000" b="1" dirty="0">
                <a:solidFill>
                  <a:srgbClr val="16302F"/>
                </a:solidFill>
                <a:latin typeface="Cambria" pitchFamily="34" charset="0"/>
                <a:ea typeface="Cambria" pitchFamily="34" charset="-122"/>
                <a:cs typeface="Cambria" pitchFamily="34" charset="-120"/>
              </a:rPr>
              <a:t>The extra step: AI-generated cards</a:t>
            </a:r>
            <a:endParaRPr lang="en-US" sz="3000" dirty="0"/>
          </a:p>
        </p:txBody>
      </p:sp>
      <p:sp>
        <p:nvSpPr>
          <p:cNvPr id="3" name="Shape 1"/>
          <p:cNvSpPr/>
          <p:nvPr/>
        </p:nvSpPr>
        <p:spPr>
          <a:xfrm>
            <a:off x="548640" y="1371600"/>
            <a:ext cx="5212080" cy="2103120"/>
          </a:xfrm>
          <a:prstGeom prst="roundRect">
            <a:avLst>
              <a:gd name="adj" fmla="val 5217"/>
            </a:avLst>
          </a:prstGeom>
          <a:solidFill>
            <a:srgbClr val="FFFFFF"/>
          </a:solidFill>
          <a:ln w="12700">
            <a:solidFill>
              <a:srgbClr val="E4E4E4"/>
            </a:solidFill>
            <a:prstDash val="solid"/>
          </a:ln>
        </p:spPr>
        <p:txBody>
          <a:bodyPr/>
          <a:lstStyle/>
          <a:p>
            <a:endParaRPr lang="nl-NL"/>
          </a:p>
        </p:txBody>
      </p:sp>
      <p:sp>
        <p:nvSpPr>
          <p:cNvPr id="4" name="Text 2"/>
          <p:cNvSpPr txBox="1"/>
          <p:nvPr/>
        </p:nvSpPr>
        <p:spPr>
          <a:xfrm>
            <a:off x="822960" y="1554480"/>
            <a:ext cx="4572000" cy="365760"/>
          </a:xfrm>
          <a:prstGeom prst="rect">
            <a:avLst/>
          </a:prstGeom>
          <a:noFill/>
          <a:ln/>
        </p:spPr>
        <p:txBody>
          <a:bodyPr wrap="square" lIns="0" tIns="0" rIns="0" bIns="0" rtlCol="0" anchor="ctr"/>
          <a:lstStyle/>
          <a:p>
            <a:pPr marL="0" indent="0">
              <a:buNone/>
            </a:pPr>
            <a:r>
              <a:rPr lang="en-US" sz="1400" b="1" dirty="0">
                <a:solidFill>
                  <a:srgbClr val="5C7A76"/>
                </a:solidFill>
                <a:latin typeface="Calibri" pitchFamily="34" charset="0"/>
                <a:ea typeface="Calibri" pitchFamily="34" charset="-122"/>
                <a:cs typeface="Calibri" pitchFamily="34" charset="-120"/>
              </a:rPr>
              <a:t>Without AI</a:t>
            </a:r>
            <a:endParaRPr lang="en-US" sz="1400" dirty="0"/>
          </a:p>
        </p:txBody>
      </p:sp>
      <p:sp>
        <p:nvSpPr>
          <p:cNvPr id="5" name="Text 3"/>
          <p:cNvSpPr txBox="1"/>
          <p:nvPr/>
        </p:nvSpPr>
        <p:spPr>
          <a:xfrm>
            <a:off x="822960" y="1965960"/>
            <a:ext cx="4663440" cy="1371600"/>
          </a:xfrm>
          <a:prstGeom prst="rect">
            <a:avLst/>
          </a:prstGeom>
          <a:noFill/>
          <a:ln/>
        </p:spPr>
        <p:txBody>
          <a:bodyPr wrap="square" lIns="0" tIns="0" rIns="0" bIns="0" rtlCol="0" anchor="ctr"/>
          <a:lstStyle/>
          <a:p>
            <a:pPr marL="0" indent="0">
              <a:lnSpc>
                <a:spcPct val="125000"/>
              </a:lnSpc>
              <a:buNone/>
            </a:pPr>
            <a:r>
              <a:rPr lang="en-US" sz="1350" dirty="0">
                <a:solidFill>
                  <a:srgbClr val="5C7A76"/>
                </a:solidFill>
                <a:latin typeface="Calibri" pitchFamily="34" charset="0"/>
                <a:ea typeface="Calibri" pitchFamily="34" charset="-122"/>
                <a:cs typeface="Calibri" pitchFamily="34" charset="-120"/>
              </a:rPr>
              <a:t>Manually turn every note into a question + answer, one at a time. Tedious enough that most students give up before they start.</a:t>
            </a:r>
            <a:endParaRPr lang="en-US" sz="1350" dirty="0"/>
          </a:p>
        </p:txBody>
      </p:sp>
      <p:sp>
        <p:nvSpPr>
          <p:cNvPr id="6" name="Shape 4"/>
          <p:cNvSpPr/>
          <p:nvPr/>
        </p:nvSpPr>
        <p:spPr>
          <a:xfrm>
            <a:off x="6035040" y="1371600"/>
            <a:ext cx="5577840" cy="2103120"/>
          </a:xfrm>
          <a:prstGeom prst="roundRect">
            <a:avLst>
              <a:gd name="adj" fmla="val 5217"/>
            </a:avLst>
          </a:prstGeom>
          <a:solidFill>
            <a:srgbClr val="028090"/>
          </a:solidFill>
          <a:ln/>
        </p:spPr>
        <p:txBody>
          <a:bodyPr/>
          <a:lstStyle/>
          <a:p>
            <a:endParaRPr lang="nl-NL"/>
          </a:p>
        </p:txBody>
      </p:sp>
      <p:sp>
        <p:nvSpPr>
          <p:cNvPr id="7" name="Text 5"/>
          <p:cNvSpPr txBox="1"/>
          <p:nvPr/>
        </p:nvSpPr>
        <p:spPr>
          <a:xfrm>
            <a:off x="6309360" y="1554480"/>
            <a:ext cx="49377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With StudyLoop</a:t>
            </a:r>
            <a:endParaRPr lang="en-US" sz="1400" dirty="0"/>
          </a:p>
        </p:txBody>
      </p:sp>
      <p:sp>
        <p:nvSpPr>
          <p:cNvPr id="8" name="Text 6"/>
          <p:cNvSpPr txBox="1"/>
          <p:nvPr/>
        </p:nvSpPr>
        <p:spPr>
          <a:xfrm>
            <a:off x="6309360" y="1965960"/>
            <a:ext cx="5120640" cy="1371600"/>
          </a:xfrm>
          <a:prstGeom prst="rect">
            <a:avLst/>
          </a:prstGeom>
          <a:noFill/>
          <a:ln/>
        </p:spPr>
        <p:txBody>
          <a:bodyPr wrap="square" lIns="0" tIns="0" rIns="0" bIns="0" rtlCol="0" anchor="ctr"/>
          <a:lstStyle/>
          <a:p>
            <a:pPr marL="0" indent="0">
              <a:lnSpc>
                <a:spcPct val="125000"/>
              </a:lnSpc>
              <a:buNone/>
            </a:pPr>
            <a:r>
              <a:rPr lang="en-US" sz="1350" dirty="0">
                <a:solidFill>
                  <a:srgbClr val="E4F5F2"/>
                </a:solidFill>
                <a:latin typeface="Calibri" pitchFamily="34" charset="0"/>
                <a:ea typeface="Calibri" pitchFamily="34" charset="-122"/>
                <a:cs typeface="Calibri" pitchFamily="34" charset="-120"/>
              </a:rPr>
              <a:t>Paste your lecture notes or summary. StudyLoop generates a first set of cards for you to review, edit, and accept.</a:t>
            </a:r>
            <a:endParaRPr lang="en-US" sz="1350" dirty="0"/>
          </a:p>
        </p:txBody>
      </p:sp>
      <p:sp>
        <p:nvSpPr>
          <p:cNvPr id="9" name="Shape 7"/>
          <p:cNvSpPr/>
          <p:nvPr/>
        </p:nvSpPr>
        <p:spPr>
          <a:xfrm>
            <a:off x="548640" y="3749040"/>
            <a:ext cx="11064240" cy="2377440"/>
          </a:xfrm>
          <a:prstGeom prst="roundRect">
            <a:avLst>
              <a:gd name="adj" fmla="val 4615"/>
            </a:avLst>
          </a:prstGeom>
          <a:solidFill>
            <a:srgbClr val="FFFFFF"/>
          </a:solidFill>
          <a:ln w="12700">
            <a:solidFill>
              <a:srgbClr val="E4E4E4"/>
            </a:solidFill>
            <a:prstDash val="solid"/>
          </a:ln>
        </p:spPr>
        <p:txBody>
          <a:bodyPr/>
          <a:lstStyle/>
          <a:p>
            <a:endParaRPr lang="nl-NL"/>
          </a:p>
        </p:txBody>
      </p:sp>
      <p:sp>
        <p:nvSpPr>
          <p:cNvPr id="10" name="Shape 8"/>
          <p:cNvSpPr/>
          <p:nvPr/>
        </p:nvSpPr>
        <p:spPr>
          <a:xfrm>
            <a:off x="868680" y="4023360"/>
            <a:ext cx="640080" cy="640080"/>
          </a:xfrm>
          <a:prstGeom prst="ellipse">
            <a:avLst/>
          </a:prstGeom>
          <a:solidFill>
            <a:srgbClr val="E6F5F3"/>
          </a:solidFill>
          <a:ln/>
        </p:spPr>
        <p:txBody>
          <a:bodyPr/>
          <a:lstStyle/>
          <a:p>
            <a:endParaRPr lang="nl-NL"/>
          </a:p>
        </p:txBody>
      </p:sp>
      <p:sp>
        <p:nvSpPr>
          <p:cNvPr id="11" name="Text 9"/>
          <p:cNvSpPr txBox="1"/>
          <p:nvPr/>
        </p:nvSpPr>
        <p:spPr>
          <a:xfrm>
            <a:off x="868680" y="4023360"/>
            <a:ext cx="640080" cy="640080"/>
          </a:xfrm>
          <a:prstGeom prst="rect">
            <a:avLst/>
          </a:prstGeom>
          <a:noFill/>
          <a:ln/>
        </p:spPr>
        <p:txBody>
          <a:bodyPr wrap="square" lIns="0" tIns="0" rIns="0" bIns="0" rtlCol="0" anchor="ctr"/>
          <a:lstStyle/>
          <a:p>
            <a:pPr marL="0" indent="0" algn="ctr">
              <a:buNone/>
            </a:pPr>
            <a:r>
              <a:rPr lang="en-US" sz="1960" dirty="0">
                <a:solidFill>
                  <a:srgbClr val="028090"/>
                </a:solidFill>
                <a:latin typeface="Arial" pitchFamily="34" charset="0"/>
                <a:ea typeface="Arial" pitchFamily="34" charset="-122"/>
                <a:cs typeface="Arial" pitchFamily="34" charset="-120"/>
              </a:rPr>
              <a:t>🌍</a:t>
            </a:r>
            <a:endParaRPr lang="en-US" sz="1960" dirty="0"/>
          </a:p>
        </p:txBody>
      </p:sp>
      <p:sp>
        <p:nvSpPr>
          <p:cNvPr id="12" name="Text 10"/>
          <p:cNvSpPr txBox="1"/>
          <p:nvPr/>
        </p:nvSpPr>
        <p:spPr>
          <a:xfrm>
            <a:off x="1691640" y="4114800"/>
            <a:ext cx="5486400" cy="457200"/>
          </a:xfrm>
          <a:prstGeom prst="rect">
            <a:avLst/>
          </a:prstGeom>
          <a:noFill/>
          <a:ln/>
        </p:spPr>
        <p:txBody>
          <a:bodyPr wrap="square" lIns="0" tIns="0" rIns="0" bIns="0" rtlCol="0" anchor="ctr"/>
          <a:lstStyle/>
          <a:p>
            <a:pPr marL="0" indent="0">
              <a:buNone/>
            </a:pPr>
            <a:r>
              <a:rPr lang="en-US" sz="1600" b="1" dirty="0">
                <a:solidFill>
                  <a:srgbClr val="16302F"/>
                </a:solidFill>
                <a:latin typeface="Calibri" pitchFamily="34" charset="0"/>
                <a:ea typeface="Calibri" pitchFamily="34" charset="-122"/>
                <a:cs typeface="Calibri" pitchFamily="34" charset="-120"/>
              </a:rPr>
              <a:t>Why it matters for SDG 4</a:t>
            </a:r>
            <a:endParaRPr lang="en-US" sz="1600" dirty="0"/>
          </a:p>
        </p:txBody>
      </p:sp>
      <p:sp>
        <p:nvSpPr>
          <p:cNvPr id="13" name="Text 11"/>
          <p:cNvSpPr txBox="1"/>
          <p:nvPr/>
        </p:nvSpPr>
        <p:spPr>
          <a:xfrm>
            <a:off x="868680" y="4709160"/>
            <a:ext cx="10424160" cy="1280160"/>
          </a:xfrm>
          <a:prstGeom prst="rect">
            <a:avLst/>
          </a:prstGeom>
          <a:noFill/>
          <a:ln/>
        </p:spPr>
        <p:txBody>
          <a:bodyPr wrap="square" lIns="0" tIns="0" rIns="0" bIns="0" rtlCol="0" anchor="ctr"/>
          <a:lstStyle/>
          <a:p>
            <a:pPr marL="0" indent="0">
              <a:lnSpc>
                <a:spcPct val="130000"/>
              </a:lnSpc>
              <a:buNone/>
            </a:pPr>
            <a:r>
              <a:rPr lang="en-US" sz="1400" dirty="0">
                <a:solidFill>
                  <a:srgbClr val="5C7A76"/>
                </a:solidFill>
                <a:latin typeface="Calibri" pitchFamily="34" charset="0"/>
                <a:ea typeface="Calibri" pitchFamily="34" charset="-122"/>
                <a:cs typeface="Calibri" pitchFamily="34" charset="-120"/>
              </a:rPr>
              <a:t>Making the cards yourself is the biggest reason students quit before they start. This removes that step, which helps most for students with less time: a part-time job, caregiving, or a disability that makes retyping notes harder.</a:t>
            </a:r>
            <a:endParaRPr lang="en-US" sz="1400" dirty="0"/>
          </a:p>
        </p:txBody>
      </p:sp>
      <p:sp>
        <p:nvSpPr>
          <p:cNvPr id="14" name="Text 12"/>
          <p:cNvSpPr txBox="1"/>
          <p:nvPr/>
        </p:nvSpPr>
        <p:spPr>
          <a:xfrm>
            <a:off x="457200" y="6510528"/>
            <a:ext cx="3657600" cy="274320"/>
          </a:xfrm>
          <a:prstGeom prst="rect">
            <a:avLst/>
          </a:prstGeom>
          <a:noFill/>
          <a:ln/>
        </p:spPr>
        <p:txBody>
          <a:bodyPr wrap="square" lIns="0" tIns="0" rIns="0" bIns="0" rtlCol="0" anchor="ctr"/>
          <a:lstStyle/>
          <a:p>
            <a:pPr marL="0" indent="0">
              <a:buNone/>
            </a:pPr>
            <a:r>
              <a:rPr lang="en-US" sz="1000" dirty="0">
                <a:solidFill>
                  <a:srgbClr val="5C7A76"/>
                </a:solidFill>
                <a:latin typeface="Calibri" pitchFamily="34" charset="0"/>
                <a:ea typeface="Calibri" pitchFamily="34" charset="-122"/>
                <a:cs typeface="Calibri" pitchFamily="34" charset="-120"/>
              </a:rPr>
              <a:t>StudyLoop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marL="0" indent="0">
              <a:buNone/>
            </a:pPr>
            <a:r>
              <a:rPr lang="en-US" sz="3200" b="1" dirty="0">
                <a:solidFill>
                  <a:srgbClr val="16302F"/>
                </a:solidFill>
                <a:latin typeface="Cambria" pitchFamily="34" charset="0"/>
                <a:ea typeface="Cambria" pitchFamily="34" charset="-122"/>
                <a:cs typeface="Cambria" pitchFamily="34" charset="-120"/>
              </a:rPr>
              <a:t>Ethical reflection</a:t>
            </a:r>
            <a:endParaRPr lang="en-US" sz="3200" dirty="0"/>
          </a:p>
        </p:txBody>
      </p:sp>
      <p:sp>
        <p:nvSpPr>
          <p:cNvPr id="3" name="Text 1"/>
          <p:cNvSpPr txBox="1"/>
          <p:nvPr/>
        </p:nvSpPr>
        <p:spPr>
          <a:xfrm>
            <a:off x="548640" y="1051560"/>
            <a:ext cx="9144000" cy="365760"/>
          </a:xfrm>
          <a:prstGeom prst="rect">
            <a:avLst/>
          </a:prstGeom>
          <a:noFill/>
          <a:ln/>
        </p:spPr>
        <p:txBody>
          <a:bodyPr wrap="square" lIns="0" tIns="0" rIns="0" bIns="0" rtlCol="0" anchor="ctr"/>
          <a:lstStyle/>
          <a:p>
            <a:pPr marL="0" indent="0">
              <a:buNone/>
            </a:pPr>
            <a:r>
              <a:rPr lang="en-US" sz="1500" dirty="0">
                <a:solidFill>
                  <a:srgbClr val="5C7A76"/>
                </a:solidFill>
                <a:latin typeface="Calibri" pitchFamily="34" charset="0"/>
                <a:ea typeface="Calibri" pitchFamily="34" charset="-122"/>
                <a:cs typeface="Calibri" pitchFamily="34" charset="-120"/>
              </a:rPr>
              <a:t>Every tool has downsides. Here are ours.</a:t>
            </a:r>
            <a:endParaRPr lang="en-US" sz="1500" dirty="0"/>
          </a:p>
        </p:txBody>
      </p:sp>
      <p:sp>
        <p:nvSpPr>
          <p:cNvPr id="4" name="Shape 2"/>
          <p:cNvSpPr/>
          <p:nvPr/>
        </p:nvSpPr>
        <p:spPr>
          <a:xfrm>
            <a:off x="548640" y="1828800"/>
            <a:ext cx="3520440" cy="3931920"/>
          </a:xfrm>
          <a:prstGeom prst="roundRect">
            <a:avLst>
              <a:gd name="adj" fmla="val 3117"/>
            </a:avLst>
          </a:prstGeom>
          <a:solidFill>
            <a:srgbClr val="FFFFFF"/>
          </a:solidFill>
          <a:ln/>
          <a:effectLst>
            <a:outerShdw blurRad="76200" dist="25400" dir="5400000" algn="bl" rotWithShape="0">
              <a:srgbClr val="1B3A38">
                <a:alpha val="12000"/>
              </a:srgbClr>
            </a:outerShdw>
          </a:effectLst>
        </p:spPr>
        <p:txBody>
          <a:bodyPr/>
          <a:lstStyle/>
          <a:p>
            <a:endParaRPr lang="nl-NL"/>
          </a:p>
        </p:txBody>
      </p:sp>
      <p:sp>
        <p:nvSpPr>
          <p:cNvPr id="5" name="Shape 3"/>
          <p:cNvSpPr/>
          <p:nvPr/>
        </p:nvSpPr>
        <p:spPr>
          <a:xfrm>
            <a:off x="1943100" y="2148840"/>
            <a:ext cx="731520" cy="731520"/>
          </a:xfrm>
          <a:prstGeom prst="ellipse">
            <a:avLst/>
          </a:prstGeom>
          <a:solidFill>
            <a:srgbClr val="FBEAE9"/>
          </a:solidFill>
          <a:ln/>
        </p:spPr>
        <p:txBody>
          <a:bodyPr/>
          <a:lstStyle/>
          <a:p>
            <a:endParaRPr lang="nl-NL"/>
          </a:p>
        </p:txBody>
      </p:sp>
      <p:sp>
        <p:nvSpPr>
          <p:cNvPr id="6" name="Text 4"/>
          <p:cNvSpPr txBox="1"/>
          <p:nvPr/>
        </p:nvSpPr>
        <p:spPr>
          <a:xfrm>
            <a:off x="1943100" y="2148840"/>
            <a:ext cx="731520" cy="731520"/>
          </a:xfrm>
          <a:prstGeom prst="rect">
            <a:avLst/>
          </a:prstGeom>
          <a:noFill/>
          <a:ln/>
        </p:spPr>
        <p:txBody>
          <a:bodyPr wrap="square" lIns="0" tIns="0" rIns="0" bIns="0" rtlCol="0" anchor="ctr"/>
          <a:lstStyle/>
          <a:p>
            <a:pPr marL="0" indent="0" algn="ctr">
              <a:buNone/>
            </a:pPr>
            <a:r>
              <a:rPr lang="en-US" sz="2240" dirty="0">
                <a:solidFill>
                  <a:srgbClr val="B54A3F"/>
                </a:solidFill>
                <a:latin typeface="Arial" pitchFamily="34" charset="0"/>
                <a:ea typeface="Arial" pitchFamily="34" charset="-122"/>
                <a:cs typeface="Arial" pitchFamily="34" charset="-120"/>
              </a:rPr>
              <a:t>⚠️</a:t>
            </a:r>
            <a:endParaRPr lang="en-US" sz="2240" dirty="0"/>
          </a:p>
        </p:txBody>
      </p:sp>
      <p:sp>
        <p:nvSpPr>
          <p:cNvPr id="7" name="Text 5"/>
          <p:cNvSpPr txBox="1"/>
          <p:nvPr/>
        </p:nvSpPr>
        <p:spPr>
          <a:xfrm>
            <a:off x="777240" y="3063240"/>
            <a:ext cx="3063240" cy="457200"/>
          </a:xfrm>
          <a:prstGeom prst="rect">
            <a:avLst/>
          </a:prstGeom>
          <a:noFill/>
          <a:ln/>
        </p:spPr>
        <p:txBody>
          <a:bodyPr wrap="square" lIns="0" tIns="0" rIns="0" bIns="0" rtlCol="0" anchor="ctr"/>
          <a:lstStyle/>
          <a:p>
            <a:pPr marL="0" indent="0" algn="ctr">
              <a:buNone/>
            </a:pPr>
            <a:r>
              <a:rPr lang="en-US" sz="1500" b="1" dirty="0">
                <a:solidFill>
                  <a:srgbClr val="16302F"/>
                </a:solidFill>
                <a:latin typeface="Calibri" pitchFamily="34" charset="0"/>
                <a:ea typeface="Calibri" pitchFamily="34" charset="-122"/>
                <a:cs typeface="Calibri" pitchFamily="34" charset="-120"/>
              </a:rPr>
              <a:t>Wrong AI cards</a:t>
            </a:r>
            <a:endParaRPr lang="en-US" sz="1500" dirty="0"/>
          </a:p>
        </p:txBody>
      </p:sp>
      <p:sp>
        <p:nvSpPr>
          <p:cNvPr id="8" name="Text 6"/>
          <p:cNvSpPr txBox="1"/>
          <p:nvPr/>
        </p:nvSpPr>
        <p:spPr>
          <a:xfrm>
            <a:off x="822960" y="3611880"/>
            <a:ext cx="2971800" cy="2011680"/>
          </a:xfrm>
          <a:prstGeom prst="rect">
            <a:avLst/>
          </a:prstGeom>
          <a:noFill/>
          <a:ln/>
        </p:spPr>
        <p:txBody>
          <a:bodyPr wrap="square" lIns="0" tIns="0" rIns="0" bIns="0" rtlCol="0" anchor="ctr"/>
          <a:lstStyle/>
          <a:p>
            <a:pPr marL="0" indent="0" algn="ctr">
              <a:lnSpc>
                <a:spcPct val="130000"/>
              </a:lnSpc>
              <a:buNone/>
            </a:pPr>
            <a:r>
              <a:rPr lang="en-US" sz="1250" dirty="0">
                <a:solidFill>
                  <a:srgbClr val="5C7A76"/>
                </a:solidFill>
                <a:latin typeface="Calibri" pitchFamily="34" charset="0"/>
                <a:ea typeface="Calibri" pitchFamily="34" charset="-122"/>
                <a:cs typeface="Calibri" pitchFamily="34" charset="-120"/>
              </a:rPr>
              <a:t>If the AI misreads a note, a student can learn something wrong without noticing it.</a:t>
            </a:r>
            <a:endParaRPr lang="en-US" sz="1250" dirty="0"/>
          </a:p>
        </p:txBody>
      </p:sp>
      <p:sp>
        <p:nvSpPr>
          <p:cNvPr id="9" name="Shape 7"/>
          <p:cNvSpPr/>
          <p:nvPr/>
        </p:nvSpPr>
        <p:spPr>
          <a:xfrm>
            <a:off x="4343400" y="1828800"/>
            <a:ext cx="3520440" cy="3931920"/>
          </a:xfrm>
          <a:prstGeom prst="roundRect">
            <a:avLst>
              <a:gd name="adj" fmla="val 3117"/>
            </a:avLst>
          </a:prstGeom>
          <a:solidFill>
            <a:srgbClr val="FFFFFF"/>
          </a:solidFill>
          <a:ln/>
          <a:effectLst>
            <a:outerShdw blurRad="76200" dist="25400" dir="5400000" algn="bl" rotWithShape="0">
              <a:srgbClr val="1B3A38">
                <a:alpha val="12000"/>
              </a:srgbClr>
            </a:outerShdw>
          </a:effectLst>
        </p:spPr>
        <p:txBody>
          <a:bodyPr/>
          <a:lstStyle/>
          <a:p>
            <a:endParaRPr lang="nl-NL"/>
          </a:p>
        </p:txBody>
      </p:sp>
      <p:sp>
        <p:nvSpPr>
          <p:cNvPr id="10" name="Shape 8"/>
          <p:cNvSpPr/>
          <p:nvPr/>
        </p:nvSpPr>
        <p:spPr>
          <a:xfrm>
            <a:off x="5737860" y="2148840"/>
            <a:ext cx="731520" cy="731520"/>
          </a:xfrm>
          <a:prstGeom prst="ellipse">
            <a:avLst/>
          </a:prstGeom>
          <a:solidFill>
            <a:srgbClr val="FBEAE9"/>
          </a:solidFill>
          <a:ln/>
        </p:spPr>
        <p:txBody>
          <a:bodyPr/>
          <a:lstStyle/>
          <a:p>
            <a:endParaRPr lang="nl-NL"/>
          </a:p>
        </p:txBody>
      </p:sp>
      <p:sp>
        <p:nvSpPr>
          <p:cNvPr id="11" name="Text 9"/>
          <p:cNvSpPr txBox="1"/>
          <p:nvPr/>
        </p:nvSpPr>
        <p:spPr>
          <a:xfrm>
            <a:off x="5737860" y="2148840"/>
            <a:ext cx="731520" cy="731520"/>
          </a:xfrm>
          <a:prstGeom prst="rect">
            <a:avLst/>
          </a:prstGeom>
          <a:noFill/>
          <a:ln/>
        </p:spPr>
        <p:txBody>
          <a:bodyPr wrap="square" lIns="0" tIns="0" rIns="0" bIns="0" rtlCol="0" anchor="ctr"/>
          <a:lstStyle/>
          <a:p>
            <a:pPr marL="0" indent="0" algn="ctr">
              <a:buNone/>
            </a:pPr>
            <a:r>
              <a:rPr lang="en-US" sz="2240" dirty="0">
                <a:solidFill>
                  <a:srgbClr val="B54A3F"/>
                </a:solidFill>
                <a:latin typeface="Arial" pitchFamily="34" charset="0"/>
                <a:ea typeface="Arial" pitchFamily="34" charset="-122"/>
                <a:cs typeface="Arial" pitchFamily="34" charset="-120"/>
              </a:rPr>
              <a:t>🔒</a:t>
            </a:r>
            <a:endParaRPr lang="en-US" sz="2240" dirty="0"/>
          </a:p>
        </p:txBody>
      </p:sp>
      <p:sp>
        <p:nvSpPr>
          <p:cNvPr id="12" name="Text 10"/>
          <p:cNvSpPr txBox="1"/>
          <p:nvPr/>
        </p:nvSpPr>
        <p:spPr>
          <a:xfrm>
            <a:off x="4572000" y="3063240"/>
            <a:ext cx="3063240" cy="457200"/>
          </a:xfrm>
          <a:prstGeom prst="rect">
            <a:avLst/>
          </a:prstGeom>
          <a:noFill/>
          <a:ln/>
        </p:spPr>
        <p:txBody>
          <a:bodyPr wrap="square" lIns="0" tIns="0" rIns="0" bIns="0" rtlCol="0" anchor="ctr"/>
          <a:lstStyle/>
          <a:p>
            <a:pPr marL="0" indent="0" algn="ctr">
              <a:buNone/>
            </a:pPr>
            <a:r>
              <a:rPr lang="en-US" sz="1500" b="1" dirty="0">
                <a:solidFill>
                  <a:srgbClr val="16302F"/>
                </a:solidFill>
                <a:latin typeface="Calibri" pitchFamily="34" charset="0"/>
                <a:ea typeface="Calibri" pitchFamily="34" charset="-122"/>
                <a:cs typeface="Calibri" pitchFamily="34" charset="-120"/>
              </a:rPr>
              <a:t>Privacy of notes</a:t>
            </a:r>
            <a:endParaRPr lang="en-US" sz="1500" dirty="0"/>
          </a:p>
        </p:txBody>
      </p:sp>
      <p:sp>
        <p:nvSpPr>
          <p:cNvPr id="13" name="Text 11"/>
          <p:cNvSpPr txBox="1"/>
          <p:nvPr/>
        </p:nvSpPr>
        <p:spPr>
          <a:xfrm>
            <a:off x="4617720" y="3611880"/>
            <a:ext cx="2971800" cy="2011680"/>
          </a:xfrm>
          <a:prstGeom prst="rect">
            <a:avLst/>
          </a:prstGeom>
          <a:noFill/>
          <a:ln/>
        </p:spPr>
        <p:txBody>
          <a:bodyPr wrap="square" lIns="0" tIns="0" rIns="0" bIns="0" rtlCol="0" anchor="ctr"/>
          <a:lstStyle/>
          <a:p>
            <a:pPr marL="0" indent="0" algn="ctr">
              <a:lnSpc>
                <a:spcPct val="130000"/>
              </a:lnSpc>
              <a:buNone/>
            </a:pPr>
            <a:r>
              <a:rPr lang="en-US" sz="1250" dirty="0">
                <a:solidFill>
                  <a:srgbClr val="5C7A76"/>
                </a:solidFill>
                <a:latin typeface="Calibri" pitchFamily="34" charset="0"/>
                <a:ea typeface="Calibri" pitchFamily="34" charset="-122"/>
                <a:cs typeface="Calibri" pitchFamily="34" charset="-120"/>
              </a:rPr>
              <a:t>Pasted notes go to an external AI model. That's a risk if someone accidentally pastes sensitive information.</a:t>
            </a:r>
            <a:endParaRPr lang="en-US" sz="1250" dirty="0"/>
          </a:p>
        </p:txBody>
      </p:sp>
      <p:sp>
        <p:nvSpPr>
          <p:cNvPr id="14" name="Shape 12"/>
          <p:cNvSpPr/>
          <p:nvPr/>
        </p:nvSpPr>
        <p:spPr>
          <a:xfrm>
            <a:off x="8138160" y="1828800"/>
            <a:ext cx="3520440" cy="3931920"/>
          </a:xfrm>
          <a:prstGeom prst="roundRect">
            <a:avLst>
              <a:gd name="adj" fmla="val 3117"/>
            </a:avLst>
          </a:prstGeom>
          <a:solidFill>
            <a:srgbClr val="FFFFFF"/>
          </a:solidFill>
          <a:ln/>
          <a:effectLst>
            <a:outerShdw blurRad="76200" dist="25400" dir="5400000" algn="bl" rotWithShape="0">
              <a:srgbClr val="1B3A38">
                <a:alpha val="12000"/>
              </a:srgbClr>
            </a:outerShdw>
          </a:effectLst>
        </p:spPr>
        <p:txBody>
          <a:bodyPr/>
          <a:lstStyle/>
          <a:p>
            <a:endParaRPr lang="nl-NL"/>
          </a:p>
        </p:txBody>
      </p:sp>
      <p:sp>
        <p:nvSpPr>
          <p:cNvPr id="15" name="Shape 13"/>
          <p:cNvSpPr/>
          <p:nvPr/>
        </p:nvSpPr>
        <p:spPr>
          <a:xfrm>
            <a:off x="9532620" y="2148840"/>
            <a:ext cx="731520" cy="731520"/>
          </a:xfrm>
          <a:prstGeom prst="ellipse">
            <a:avLst/>
          </a:prstGeom>
          <a:solidFill>
            <a:srgbClr val="FBEAE9"/>
          </a:solidFill>
          <a:ln/>
        </p:spPr>
        <p:txBody>
          <a:bodyPr/>
          <a:lstStyle/>
          <a:p>
            <a:endParaRPr lang="nl-NL"/>
          </a:p>
        </p:txBody>
      </p:sp>
      <p:sp>
        <p:nvSpPr>
          <p:cNvPr id="16" name="Text 14"/>
          <p:cNvSpPr txBox="1"/>
          <p:nvPr/>
        </p:nvSpPr>
        <p:spPr>
          <a:xfrm>
            <a:off x="9532620" y="2148840"/>
            <a:ext cx="731520" cy="731520"/>
          </a:xfrm>
          <a:prstGeom prst="rect">
            <a:avLst/>
          </a:prstGeom>
          <a:noFill/>
          <a:ln/>
        </p:spPr>
        <p:txBody>
          <a:bodyPr wrap="square" lIns="0" tIns="0" rIns="0" bIns="0" rtlCol="0" anchor="ctr"/>
          <a:lstStyle/>
          <a:p>
            <a:pPr marL="0" indent="0" algn="ctr">
              <a:buNone/>
            </a:pPr>
            <a:r>
              <a:rPr lang="en-US" sz="2240" dirty="0">
                <a:solidFill>
                  <a:srgbClr val="B54A3F"/>
                </a:solidFill>
                <a:latin typeface="Arial" pitchFamily="34" charset="0"/>
                <a:ea typeface="Arial" pitchFamily="34" charset="-122"/>
                <a:cs typeface="Arial" pitchFamily="34" charset="-120"/>
              </a:rPr>
              <a:t>🎭</a:t>
            </a:r>
            <a:endParaRPr lang="en-US" sz="2240" dirty="0"/>
          </a:p>
        </p:txBody>
      </p:sp>
      <p:sp>
        <p:nvSpPr>
          <p:cNvPr id="17" name="Text 15"/>
          <p:cNvSpPr txBox="1"/>
          <p:nvPr/>
        </p:nvSpPr>
        <p:spPr>
          <a:xfrm>
            <a:off x="8366760" y="3063240"/>
            <a:ext cx="3063240" cy="457200"/>
          </a:xfrm>
          <a:prstGeom prst="rect">
            <a:avLst/>
          </a:prstGeom>
          <a:noFill/>
          <a:ln/>
        </p:spPr>
        <p:txBody>
          <a:bodyPr wrap="square" lIns="0" tIns="0" rIns="0" bIns="0" rtlCol="0" anchor="ctr"/>
          <a:lstStyle/>
          <a:p>
            <a:pPr marL="0" indent="0" algn="ctr">
              <a:buNone/>
            </a:pPr>
            <a:r>
              <a:rPr lang="en-US" sz="1500" b="1" dirty="0">
                <a:solidFill>
                  <a:srgbClr val="16302F"/>
                </a:solidFill>
                <a:latin typeface="Calibri" pitchFamily="34" charset="0"/>
                <a:ea typeface="Calibri" pitchFamily="34" charset="-122"/>
                <a:cs typeface="Calibri" pitchFamily="34" charset="-120"/>
              </a:rPr>
              <a:t>Self-deception</a:t>
            </a:r>
            <a:endParaRPr lang="en-US" sz="1500" dirty="0"/>
          </a:p>
        </p:txBody>
      </p:sp>
      <p:sp>
        <p:nvSpPr>
          <p:cNvPr id="18" name="Text 16"/>
          <p:cNvSpPr txBox="1"/>
          <p:nvPr/>
        </p:nvSpPr>
        <p:spPr>
          <a:xfrm>
            <a:off x="8412480" y="3611880"/>
            <a:ext cx="2971800" cy="2011680"/>
          </a:xfrm>
          <a:prstGeom prst="rect">
            <a:avLst/>
          </a:prstGeom>
          <a:noFill/>
          <a:ln/>
        </p:spPr>
        <p:txBody>
          <a:bodyPr wrap="square" lIns="0" tIns="0" rIns="0" bIns="0" rtlCol="0" anchor="ctr"/>
          <a:lstStyle/>
          <a:p>
            <a:pPr marL="0" indent="0" algn="ctr">
              <a:lnSpc>
                <a:spcPct val="130000"/>
              </a:lnSpc>
              <a:buNone/>
            </a:pPr>
            <a:r>
              <a:rPr lang="en-US" sz="1250" dirty="0">
                <a:solidFill>
                  <a:srgbClr val="5C7A76"/>
                </a:solidFill>
                <a:latin typeface="Calibri" pitchFamily="34" charset="0"/>
                <a:ea typeface="Calibri" pitchFamily="34" charset="-122"/>
                <a:cs typeface="Calibri" pitchFamily="34" charset="-120"/>
              </a:rPr>
              <a:t>Nothing stops a student from clicking "Good" without really knowing the answer. That gives a false sense of being ready.</a:t>
            </a:r>
            <a:endParaRPr lang="en-US" sz="1250" dirty="0"/>
          </a:p>
        </p:txBody>
      </p:sp>
      <p:sp>
        <p:nvSpPr>
          <p:cNvPr id="19" name="Text 17"/>
          <p:cNvSpPr txBox="1"/>
          <p:nvPr/>
        </p:nvSpPr>
        <p:spPr>
          <a:xfrm>
            <a:off x="457200" y="6510528"/>
            <a:ext cx="3657600" cy="274320"/>
          </a:xfrm>
          <a:prstGeom prst="rect">
            <a:avLst/>
          </a:prstGeom>
          <a:noFill/>
          <a:ln/>
        </p:spPr>
        <p:txBody>
          <a:bodyPr wrap="square" lIns="0" tIns="0" rIns="0" bIns="0" rtlCol="0" anchor="ctr"/>
          <a:lstStyle/>
          <a:p>
            <a:pPr marL="0" indent="0">
              <a:buNone/>
            </a:pPr>
            <a:r>
              <a:rPr lang="en-US" sz="1000" dirty="0">
                <a:solidFill>
                  <a:srgbClr val="5C7A76"/>
                </a:solidFill>
                <a:latin typeface="Calibri" pitchFamily="34" charset="0"/>
                <a:ea typeface="Calibri" pitchFamily="34" charset="-122"/>
                <a:cs typeface="Calibri" pitchFamily="34" charset="-120"/>
              </a:rPr>
              <a:t>StudyLoop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B2E"/>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marL="0" indent="0">
              <a:buNone/>
            </a:pPr>
            <a:r>
              <a:rPr lang="en-US" sz="3200" b="1" dirty="0">
                <a:solidFill>
                  <a:srgbClr val="F4FAF9"/>
                </a:solidFill>
                <a:latin typeface="Cambria" pitchFamily="34" charset="0"/>
                <a:ea typeface="Cambria" pitchFamily="34" charset="-122"/>
                <a:cs typeface="Cambria" pitchFamily="34" charset="-120"/>
              </a:rPr>
              <a:t>What we learned</a:t>
            </a:r>
            <a:endParaRPr lang="en-US" sz="3200" dirty="0"/>
          </a:p>
        </p:txBody>
      </p:sp>
      <p:sp>
        <p:nvSpPr>
          <p:cNvPr id="3" name="Shape 1"/>
          <p:cNvSpPr/>
          <p:nvPr/>
        </p:nvSpPr>
        <p:spPr>
          <a:xfrm>
            <a:off x="548640" y="1554480"/>
            <a:ext cx="11064240" cy="2743200"/>
          </a:xfrm>
          <a:prstGeom prst="roundRect">
            <a:avLst>
              <a:gd name="adj" fmla="val 4000"/>
            </a:avLst>
          </a:prstGeom>
          <a:solidFill>
            <a:srgbClr val="10393B"/>
          </a:solidFill>
          <a:ln w="12700">
            <a:solidFill>
              <a:srgbClr val="1E4B4D"/>
            </a:solidFill>
            <a:prstDash val="solid"/>
          </a:ln>
        </p:spPr>
        <p:txBody>
          <a:bodyPr/>
          <a:lstStyle/>
          <a:p>
            <a:endParaRPr lang="nl-NL"/>
          </a:p>
        </p:txBody>
      </p:sp>
      <p:sp>
        <p:nvSpPr>
          <p:cNvPr id="4" name="Text 2"/>
          <p:cNvSpPr txBox="1"/>
          <p:nvPr/>
        </p:nvSpPr>
        <p:spPr>
          <a:xfrm>
            <a:off x="914400" y="1783080"/>
            <a:ext cx="10332720" cy="548640"/>
          </a:xfrm>
          <a:prstGeom prst="rect">
            <a:avLst/>
          </a:prstGeom>
          <a:noFill/>
          <a:ln/>
        </p:spPr>
        <p:txBody>
          <a:bodyPr wrap="square" lIns="0" tIns="0" rIns="0" bIns="0" rtlCol="0" anchor="ctr"/>
          <a:lstStyle/>
          <a:p>
            <a:pPr marL="0" indent="0">
              <a:buNone/>
            </a:pPr>
            <a:r>
              <a:rPr lang="en-US" sz="2200" b="1" i="1" dirty="0">
                <a:solidFill>
                  <a:srgbClr val="02C39A"/>
                </a:solidFill>
                <a:latin typeface="Cambria" pitchFamily="34" charset="0"/>
                <a:ea typeface="Cambria" pitchFamily="34" charset="-122"/>
                <a:cs typeface="Cambria" pitchFamily="34" charset="-120"/>
              </a:rPr>
              <a:t>“Be specific, or the app builds it wrong.”</a:t>
            </a:r>
            <a:endParaRPr lang="en-US" sz="2200" dirty="0"/>
          </a:p>
        </p:txBody>
      </p:sp>
      <p:sp>
        <p:nvSpPr>
          <p:cNvPr id="5" name="Text 3"/>
          <p:cNvSpPr txBox="1"/>
          <p:nvPr/>
        </p:nvSpPr>
        <p:spPr>
          <a:xfrm>
            <a:off x="914400" y="2468880"/>
            <a:ext cx="10332720" cy="1645920"/>
          </a:xfrm>
          <a:prstGeom prst="rect">
            <a:avLst/>
          </a:prstGeom>
          <a:noFill/>
          <a:ln/>
        </p:spPr>
        <p:txBody>
          <a:bodyPr wrap="square" lIns="0" tIns="0" rIns="0" bIns="0" rtlCol="0" anchor="ctr"/>
          <a:lstStyle/>
          <a:p>
            <a:pPr marL="0" indent="0">
              <a:lnSpc>
                <a:spcPct val="135000"/>
              </a:lnSpc>
              <a:buNone/>
            </a:pPr>
            <a:r>
              <a:rPr lang="en-US" sz="1500" dirty="0">
                <a:solidFill>
                  <a:srgbClr val="D8F1EE"/>
                </a:solidFill>
                <a:latin typeface="Calibri" pitchFamily="34" charset="0"/>
                <a:ea typeface="Calibri" pitchFamily="34" charset="-122"/>
                <a:cs typeface="Calibri" pitchFamily="34" charset="-120"/>
              </a:rPr>
              <a:t>A no-code tool isn't smart on its own. It just does what you tell it. When our instructions were vague, the app skipped things or got the logic wrong. Writing out exact rules, like the precise math for the flashcard algorithm, made it actually work. Building step by step and testing each part along the way caught mistakes early.</a:t>
            </a:r>
            <a:endParaRPr lang="en-US" sz="1500" dirty="0"/>
          </a:p>
        </p:txBody>
      </p:sp>
      <p:sp>
        <p:nvSpPr>
          <p:cNvPr id="6" name="Text 4"/>
          <p:cNvSpPr txBox="1"/>
          <p:nvPr/>
        </p:nvSpPr>
        <p:spPr>
          <a:xfrm>
            <a:off x="548640" y="4572000"/>
            <a:ext cx="7315200" cy="365760"/>
          </a:xfrm>
          <a:prstGeom prst="rect">
            <a:avLst/>
          </a:prstGeom>
          <a:noFill/>
          <a:ln/>
        </p:spPr>
        <p:txBody>
          <a:bodyPr wrap="square" lIns="0" tIns="0" rIns="0" bIns="0" rtlCol="0" anchor="ctr"/>
          <a:lstStyle/>
          <a:p>
            <a:pPr marL="0" indent="0">
              <a:buNone/>
            </a:pPr>
            <a:r>
              <a:rPr lang="en-US" sz="1300" dirty="0">
                <a:solidFill>
                  <a:srgbClr val="9FC9C4"/>
                </a:solidFill>
                <a:latin typeface="Calibri" pitchFamily="34" charset="0"/>
                <a:ea typeface="Calibri" pitchFamily="34" charset="-122"/>
                <a:cs typeface="Calibri" pitchFamily="34" charset="-120"/>
              </a:rPr>
              <a:t>StudyLoop  ·  live at studyloop-dash.lovable.app</a:t>
            </a:r>
            <a:endParaRPr lang="en-US" sz="1300" dirty="0"/>
          </a:p>
        </p:txBody>
      </p:sp>
      <p:sp>
        <p:nvSpPr>
          <p:cNvPr id="7" name="Text 5"/>
          <p:cNvSpPr txBox="1"/>
          <p:nvPr/>
        </p:nvSpPr>
        <p:spPr>
          <a:xfrm>
            <a:off x="457200" y="6510528"/>
            <a:ext cx="3657600" cy="274320"/>
          </a:xfrm>
          <a:prstGeom prst="rect">
            <a:avLst/>
          </a:prstGeom>
          <a:noFill/>
          <a:ln/>
        </p:spPr>
        <p:txBody>
          <a:bodyPr wrap="square" lIns="0" tIns="0" rIns="0" bIns="0" rtlCol="0" anchor="ctr"/>
          <a:lstStyle/>
          <a:p>
            <a:pPr marL="0" indent="0">
              <a:buNone/>
            </a:pPr>
            <a:r>
              <a:rPr lang="en-US" sz="1000" dirty="0">
                <a:solidFill>
                  <a:srgbClr val="9FC9C4"/>
                </a:solidFill>
                <a:latin typeface="Calibri" pitchFamily="34" charset="0"/>
                <a:ea typeface="Calibri" pitchFamily="34" charset="-122"/>
                <a:cs typeface="Calibri" pitchFamily="34" charset="-120"/>
              </a:rPr>
              <a:t>StudyLoop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B2E"/>
        </a:solidFill>
        <a:effectLst/>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028090">
              <a:alpha val="45000"/>
            </a:srgbClr>
          </a:solidFill>
          <a:ln/>
        </p:spPr>
        <p:txBody>
          <a:bodyPr/>
          <a:lstStyle/>
          <a:p>
            <a:endParaRPr lang="nl-NL"/>
          </a:p>
        </p:txBody>
      </p:sp>
      <p:sp>
        <p:nvSpPr>
          <p:cNvPr id="3" name="Text 1"/>
          <p:cNvSpPr txBox="1"/>
          <p:nvPr/>
        </p:nvSpPr>
        <p:spPr>
          <a:xfrm>
            <a:off x="731520" y="2194560"/>
            <a:ext cx="7315200" cy="914400"/>
          </a:xfrm>
          <a:prstGeom prst="rect">
            <a:avLst/>
          </a:prstGeom>
          <a:noFill/>
          <a:ln/>
        </p:spPr>
        <p:txBody>
          <a:bodyPr wrap="square" lIns="0" tIns="0" rIns="0" bIns="0" rtlCol="0" anchor="ctr"/>
          <a:lstStyle/>
          <a:p>
            <a:pPr marL="0" indent="0">
              <a:buNone/>
            </a:pPr>
            <a:r>
              <a:rPr lang="en-US" sz="4400" b="1" dirty="0">
                <a:solidFill>
                  <a:srgbClr val="F4FAF9"/>
                </a:solidFill>
                <a:latin typeface="Cambria" pitchFamily="34" charset="0"/>
                <a:ea typeface="Cambria" pitchFamily="34" charset="-122"/>
                <a:cs typeface="Cambria" pitchFamily="34" charset="-120"/>
              </a:rPr>
              <a:t>StudyLoop</a:t>
            </a:r>
            <a:endParaRPr lang="en-US" sz="4400" dirty="0"/>
          </a:p>
        </p:txBody>
      </p:sp>
      <p:sp>
        <p:nvSpPr>
          <p:cNvPr id="4" name="Text 2"/>
          <p:cNvSpPr txBox="1"/>
          <p:nvPr/>
        </p:nvSpPr>
        <p:spPr>
          <a:xfrm>
            <a:off x="777240" y="3063240"/>
            <a:ext cx="7315200" cy="457200"/>
          </a:xfrm>
          <a:prstGeom prst="rect">
            <a:avLst/>
          </a:prstGeom>
          <a:noFill/>
          <a:ln/>
        </p:spPr>
        <p:txBody>
          <a:bodyPr wrap="square" lIns="0" tIns="0" rIns="0" bIns="0" rtlCol="0" anchor="ctr"/>
          <a:lstStyle/>
          <a:p>
            <a:pPr marL="0" indent="0">
              <a:buNone/>
            </a:pPr>
            <a:r>
              <a:rPr lang="en-US" sz="1800" dirty="0">
                <a:solidFill>
                  <a:srgbClr val="BFE3DF"/>
                </a:solidFill>
                <a:latin typeface="Calibri" pitchFamily="34" charset="0"/>
                <a:ea typeface="Calibri" pitchFamily="34" charset="-122"/>
                <a:cs typeface="Calibri" pitchFamily="34" charset="-120"/>
              </a:rPr>
              <a:t>Thank you. Questions welcome.</a:t>
            </a:r>
            <a:endParaRPr lang="en-US" sz="1800" dirty="0"/>
          </a:p>
        </p:txBody>
      </p:sp>
      <p:sp>
        <p:nvSpPr>
          <p:cNvPr id="5" name="Shape 3"/>
          <p:cNvSpPr/>
          <p:nvPr/>
        </p:nvSpPr>
        <p:spPr>
          <a:xfrm>
            <a:off x="731520" y="3931920"/>
            <a:ext cx="4937760" cy="548640"/>
          </a:xfrm>
          <a:prstGeom prst="roundRect">
            <a:avLst>
              <a:gd name="adj" fmla="val 50000"/>
            </a:avLst>
          </a:prstGeom>
          <a:solidFill>
            <a:srgbClr val="00A896"/>
          </a:solidFill>
          <a:ln/>
        </p:spPr>
        <p:txBody>
          <a:bodyPr/>
          <a:lstStyle/>
          <a:p>
            <a:endParaRPr lang="nl-NL"/>
          </a:p>
        </p:txBody>
      </p:sp>
      <p:sp>
        <p:nvSpPr>
          <p:cNvPr id="6" name="Text 4"/>
          <p:cNvSpPr txBox="1"/>
          <p:nvPr/>
        </p:nvSpPr>
        <p:spPr>
          <a:xfrm>
            <a:off x="731520" y="3931920"/>
            <a:ext cx="4937760" cy="548640"/>
          </a:xfrm>
          <a:prstGeom prst="rect">
            <a:avLst/>
          </a:prstGeom>
          <a:noFill/>
          <a:ln/>
        </p:spPr>
        <p:txBody>
          <a:bodyPr wrap="square" lIns="0" tIns="0" rIns="0" bIns="0" rtlCol="0" anchor="ctr"/>
          <a:lstStyle/>
          <a:p>
            <a:pPr marL="0" indent="0" algn="ctr">
              <a:buNone/>
            </a:pPr>
            <a:r>
              <a:rPr lang="en-US" sz="1500" b="1" dirty="0">
                <a:solidFill>
                  <a:srgbClr val="0B2B2E"/>
                </a:solidFill>
                <a:latin typeface="Calibri" pitchFamily="34" charset="0"/>
                <a:ea typeface="Calibri" pitchFamily="34" charset="-122"/>
                <a:cs typeface="Calibri" pitchFamily="34" charset="-120"/>
              </a:rPr>
              <a:t>studyloop-dash.lovable.app</a:t>
            </a:r>
            <a:endParaRPr lang="en-US" sz="1500" dirty="0"/>
          </a:p>
        </p:txBody>
      </p:sp>
      <p:sp>
        <p:nvSpPr>
          <p:cNvPr id="7" name="Text 5"/>
          <p:cNvSpPr txBox="1"/>
          <p:nvPr/>
        </p:nvSpPr>
        <p:spPr>
          <a:xfrm>
            <a:off x="777240" y="6035040"/>
            <a:ext cx="5486400" cy="365760"/>
          </a:xfrm>
          <a:prstGeom prst="rect">
            <a:avLst/>
          </a:prstGeom>
          <a:noFill/>
          <a:ln/>
        </p:spPr>
        <p:txBody>
          <a:bodyPr wrap="square" lIns="0" tIns="0" rIns="0" bIns="0" rtlCol="0" anchor="ctr"/>
          <a:lstStyle/>
          <a:p>
            <a:pPr marL="0" indent="0">
              <a:buNone/>
            </a:pPr>
            <a:r>
              <a:rPr lang="en-US" sz="1300" dirty="0">
                <a:solidFill>
                  <a:srgbClr val="9FC9C4"/>
                </a:solidFill>
                <a:latin typeface="Calibri" pitchFamily="34" charset="0"/>
                <a:ea typeface="Calibri" pitchFamily="34" charset="-122"/>
                <a:cs typeface="Calibri" pitchFamily="34" charset="-120"/>
              </a:rPr>
              <a:t>Murat Orhan &amp; Milou van Leuven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606</Words>
  <Application>Microsoft Office PowerPoint</Application>
  <PresentationFormat>Breedbeeld</PresentationFormat>
  <Paragraphs>89</Paragraphs>
  <Slides>8</Slides>
  <Notes>8</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8</vt:i4>
      </vt:variant>
    </vt:vector>
  </HeadingPairs>
  <TitlesOfParts>
    <vt:vector size="12" baseType="lpstr">
      <vt:lpstr>Arial</vt:lpstr>
      <vt:lpstr>Calibri</vt:lpstr>
      <vt:lpstr>Cambria</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Milou van Leuven | Woodspaces</cp:lastModifiedBy>
  <cp:revision>4</cp:revision>
  <dcterms:created xsi:type="dcterms:W3CDTF">2026-09-10T12:17:09Z</dcterms:created>
  <dcterms:modified xsi:type="dcterms:W3CDTF">2026-09-10T20:12:53Z</dcterms:modified>
</cp:coreProperties>
</file>